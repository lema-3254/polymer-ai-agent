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771900"/>
            <a:ext cx="9144000" cy="36576"/>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8229600" cy="1005840"/>
          </a:xfrm>
          <a:prstGeom prst="rect">
            <a:avLst/>
          </a:prstGeom>
          <a:noFill/>
        </p:spPr>
        <p:txBody>
          <a:bodyPr wrap="square">
            <a:spAutoFit/>
          </a:bodyPr>
          <a:lstStyle/>
          <a:p>
            <a:pPr algn="ctr"/>
            <a:r>
              <a:rPr sz="3400" b="1" i="0">
                <a:solidFill>
                  <a:srgbClr val="FFFFFF"/>
                </a:solidFill>
              </a:rPr>
              <a:t>AI Tools for Polymer Materials</a:t>
            </a:r>
          </a:p>
        </p:txBody>
      </p:sp>
      <p:sp>
        <p:nvSpPr>
          <p:cNvPr id="6" name="TextBox 5"/>
          <p:cNvSpPr txBox="1"/>
          <p:nvPr/>
        </p:nvSpPr>
        <p:spPr>
          <a:xfrm>
            <a:off x="457200" y="2377440"/>
            <a:ext cx="8229600" cy="548640"/>
          </a:xfrm>
          <a:prstGeom prst="rect">
            <a:avLst/>
          </a:prstGeom>
          <a:noFill/>
        </p:spPr>
        <p:txBody>
          <a:bodyPr wrap="square">
            <a:spAutoFit/>
          </a:bodyPr>
          <a:lstStyle/>
          <a:p>
            <a:pPr algn="ctr"/>
            <a:r>
              <a:rPr sz="1800" b="0" i="0">
                <a:solidFill>
                  <a:srgbClr val="22D3EE"/>
                </a:solidFill>
              </a:rPr>
              <a:t>Daily Research Digest</a:t>
            </a:r>
          </a:p>
        </p:txBody>
      </p:sp>
      <p:sp>
        <p:nvSpPr>
          <p:cNvPr id="7" name="TextBox 6"/>
          <p:cNvSpPr txBox="1"/>
          <p:nvPr/>
        </p:nvSpPr>
        <p:spPr>
          <a:xfrm>
            <a:off x="457200" y="2926080"/>
            <a:ext cx="8229600" cy="411480"/>
          </a:xfrm>
          <a:prstGeom prst="rect">
            <a:avLst/>
          </a:prstGeom>
          <a:noFill/>
        </p:spPr>
        <p:txBody>
          <a:bodyPr wrap="square">
            <a:spAutoFit/>
          </a:bodyPr>
          <a:lstStyle/>
          <a:p>
            <a:pPr algn="ctr"/>
            <a:r>
              <a:rPr sz="1300" b="0" i="0">
                <a:solidFill>
                  <a:srgbClr val="64748B"/>
                </a:solidFill>
              </a:rPr>
              <a:t>2026-06-22</a:t>
            </a:r>
          </a:p>
        </p:txBody>
      </p:sp>
      <p:sp>
        <p:nvSpPr>
          <p:cNvPr id="8" name="TextBox 7"/>
          <p:cNvSpPr txBox="1"/>
          <p:nvPr/>
        </p:nvSpPr>
        <p:spPr>
          <a:xfrm>
            <a:off x="822960" y="3749039"/>
            <a:ext cx="7498079" cy="822960"/>
          </a:xfrm>
          <a:prstGeom prst="rect">
            <a:avLst/>
          </a:prstGeom>
          <a:noFill/>
        </p:spPr>
        <p:txBody>
          <a:bodyPr wrap="square">
            <a:spAutoFit/>
          </a:bodyPr>
          <a:lstStyle/>
          <a:p>
            <a:pPr algn="ctr"/>
            <a:r>
              <a:rPr sz="1300" b="1" i="1">
                <a:solidFill>
                  <a:srgbClr val="94A3B8"/>
                </a:solidFill>
              </a:rPr>
              <a:t>"Foundational generative models hit the lab bench, autonomous multi-agent polymer informatics platforms go live, and AI recycling systems claim 60 pct efficiency gains as the field shifts from tools to end-to-end pipelines."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Executive Summary</a:t>
            </a:r>
          </a:p>
        </p:txBody>
      </p:sp>
      <p:sp>
        <p:nvSpPr>
          <p:cNvPr id="6" name="TextBox 5"/>
          <p:cNvSpPr txBox="1"/>
          <p:nvPr/>
        </p:nvSpPr>
        <p:spPr>
          <a:xfrm>
            <a:off x="457200" y="1051560"/>
            <a:ext cx="8229600" cy="4206240"/>
          </a:xfrm>
          <a:prstGeom prst="rect">
            <a:avLst/>
          </a:prstGeom>
          <a:noFill/>
        </p:spPr>
        <p:txBody>
          <a:bodyPr wrap="square">
            <a:spAutoFit/>
          </a:bodyPr>
          <a:lstStyle/>
          <a:p>
            <a:pPr algn="l"/>
            <a:r>
              <a:rPr sz="1200" b="0" i="0">
                <a:solidFill>
                  <a:srgbClr val="1E293B"/>
                </a:solidFill>
              </a:rPr>
              <a:t>The week of 22 June 2026 marks an inflection point in AI-driven polymer science: generative foundation models are no longer just predicting properties but designing wholly novel structures that pass laboratory validation. Georgia Tech's POLYT5 encoder-decoder model produced a new dielectric polymer that passed physical experiments, representing the first foundational model for generative polymer design with experimental confirmation. Simultaneously, IBM's WO 2026 patent filing describes an inverse-design paradigm in which foundation models receive natural-language property specifications and return chemically valid candidate structures without human bottlenecks.
On the data infrastructure…</a:t>
            </a:r>
          </a:p>
        </p:txBody>
      </p:sp>
      <p:sp>
        <p:nvSpPr>
          <p:cNvPr id="7" name="Rectangle 6"/>
          <p:cNvSpPr/>
          <p:nvPr/>
        </p:nvSpPr>
        <p:spPr>
          <a:xfrm>
            <a:off x="365760"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550408"/>
            <a:ext cx="1874520" cy="347472"/>
          </a:xfrm>
          <a:prstGeom prst="rect">
            <a:avLst/>
          </a:prstGeom>
          <a:noFill/>
        </p:spPr>
        <p:txBody>
          <a:bodyPr wrap="square">
            <a:spAutoFit/>
          </a:bodyPr>
          <a:lstStyle/>
          <a:p>
            <a:pPr algn="l"/>
            <a:r>
              <a:rPr sz="800" b="0" i="0">
                <a:solidFill>
                  <a:srgbClr val="FFFFFF"/>
                </a:solidFill>
              </a:rPr>
              <a:t>Generative foundation models move from…</a:t>
            </a:r>
          </a:p>
        </p:txBody>
      </p:sp>
      <p:sp>
        <p:nvSpPr>
          <p:cNvPr id="9" name="Rectangle 8"/>
          <p:cNvSpPr/>
          <p:nvPr/>
        </p:nvSpPr>
        <p:spPr>
          <a:xfrm>
            <a:off x="2532888"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24328" y="5550408"/>
            <a:ext cx="1874520" cy="347472"/>
          </a:xfrm>
          <a:prstGeom prst="rect">
            <a:avLst/>
          </a:prstGeom>
          <a:noFill/>
        </p:spPr>
        <p:txBody>
          <a:bodyPr wrap="square">
            <a:spAutoFit/>
          </a:bodyPr>
          <a:lstStyle/>
          <a:p>
            <a:pPr algn="l"/>
            <a:r>
              <a:rPr sz="800" b="0" i="0">
                <a:solidFill>
                  <a:srgbClr val="FFFFFF"/>
                </a:solidFill>
              </a:rPr>
              <a:t>Autonomous multi-agent pipelines colla…</a:t>
            </a:r>
          </a:p>
        </p:txBody>
      </p:sp>
      <p:sp>
        <p:nvSpPr>
          <p:cNvPr id="11" name="Rectangle 10"/>
          <p:cNvSpPr/>
          <p:nvPr/>
        </p:nvSpPr>
        <p:spPr>
          <a:xfrm>
            <a:off x="4700016"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91456" y="5550408"/>
            <a:ext cx="1874520" cy="347472"/>
          </a:xfrm>
          <a:prstGeom prst="rect">
            <a:avLst/>
          </a:prstGeom>
          <a:noFill/>
        </p:spPr>
        <p:txBody>
          <a:bodyPr wrap="square">
            <a:spAutoFit/>
          </a:bodyPr>
          <a:lstStyle/>
          <a:p>
            <a:pPr algn="l"/>
            <a:r>
              <a:rPr sz="800" b="0" i="0">
                <a:solidFill>
                  <a:srgbClr val="FFFFFF"/>
                </a:solidFill>
              </a:rPr>
              <a:t>AI recycling and sustainability applic…</a:t>
            </a:r>
          </a:p>
        </p:txBody>
      </p:sp>
      <p:sp>
        <p:nvSpPr>
          <p:cNvPr id="13" name="Rectangle 12"/>
          <p:cNvSpPr/>
          <p:nvPr/>
        </p:nvSpPr>
        <p:spPr>
          <a:xfrm>
            <a:off x="6867144"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58584" y="5550408"/>
            <a:ext cx="1874520" cy="347472"/>
          </a:xfrm>
          <a:prstGeom prst="rect">
            <a:avLst/>
          </a:prstGeom>
          <a:noFill/>
        </p:spPr>
        <p:txBody>
          <a:bodyPr wrap="square">
            <a:spAutoFit/>
          </a:bodyPr>
          <a:lstStyle/>
          <a:p>
            <a:pPr algn="l"/>
            <a:r>
              <a:rPr sz="800" b="0" i="0">
                <a:solidFill>
                  <a:srgbClr val="FFFFFF"/>
                </a:solidFill>
              </a:rPr>
              <a:t>LLMs replace classical feature enginee…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POLYT5 Foundation Model Validates First Lab-Tested Generative Polymer Design</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Generative Design  ·  Impact: HIGH</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Georgia Tech researchers unveiled POLYT5, an encoder-decoder foundation chemical language model trained on experimentally verified polymers that accepts desired property specifications and outputs novel polymer structures. The model produced a new…</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OPoly26 Dataset: 6.35 Million DFT Calculations Reshape Polymer Benchmarking</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Property Prediction  ·  Impact: HIGH</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The Open Polymers 2026 (OPoly26) dataset provides more than 6.35 million density functional theory calculations derived from polymeric systems encompassing over 1.2 billion total atoms across clusters of up to 360 atoms. OPoly26 captures monomer…</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PolyMon Unified Framework Bridges Multi-Task Polymer Property Prediction</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Property Prediction  ·  Impact: HIGH</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PolyMon (arXiv 2603.13303) introduces a unified framework for polymer property prediction that fuses graph neural network fingerprints with adaptive molecular representations in a multitask learning architecture. The system targets thermal…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Autonomous Multi-Agent AI System Integrates Full Polymer Informatics Pipeline</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Property Prediction  ·  Impact: HIGH</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A new autonomous multi-agent AI system (arXiv 2602.00103) spans the complete polymer informatics stack: property prediction, generative design, and bio-polymer discovery for both synthetic and natural polymer families. Agent modules communicate…</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Deep Learning Pushes FTIR Fingerprint-Region Prediction Past 87 Pct Accuracy</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Characterization  ·  Impact: HIGH</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A 2026 MRS Advances study optimised deep-learning models for FTIR spectral prediction in the polymer fingerprint region, achieving 87 percent accuracy for polystyrene, 84 percent for HDPE, and 81 percent for PET — substantially exceeding prior…</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AI Manufacturing Cuts Cycle Times 30 Pct and Off-Spec Production by 2 Pct</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Processing  ·  Impact: HIGH</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A 2026 MRS Communications review of AI in advanced polymer manufacturing documents that physics-informed neural networks predicting optimal heating curves reduce injection moulding cycle times by up to 30 percent, while real-time ML process control…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AI Recycling Systems Report 60 Pct Efficiency Gains; Pyrolysis Optimisation Scales</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Sustainability  ·  Impact: HIGH</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AI-driven sorting systems combining hyperspectral imaging and deep-learning polymer identification are achieving up to 60 percent efficiency gains in recycling plant throughput according to 2026 industry data. Multi-objective AI optimisation of…</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LLMs Benchmarked for Polymer Property Prediction; Solubility Validated in ACS</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LLMs  ·  Impact: MEDIUM</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A PubMed-indexed benchmarking study evaluated fine-tuned LLMs against traditional ML methods for polymer property classification, finding that LLM-based methods match or exceed conventional approaches without requiring complex molecular…</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Agentic Intelligence Paradigm Emerges for Autonomous Materials Discovery</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LLMs  ·  Impact: MEDIUM</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A 2026 arXiv perspective (2602.00169) formalises agentic intelligence for materials science — LLM-orchestrated systems that plan multi-step experimental campaigns, invoke computational tools, retrieve literature, and iterate without human input…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IBM Patent Filing Covers Foundation-Model-Driven Substructural Polymer Replacement</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Generative Design  ·  Impact: MEDIUM</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IBM's WO 2026 patent filing introduces an inverse-design paradigm where a foundation model receives user prompts specifying desired properties and generates chemically valid substructural replacements predicted to exhibit those properties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Notable Tools &amp; Resources</a:t>
            </a:r>
          </a:p>
        </p:txBody>
      </p:sp>
      <p:sp>
        <p:nvSpPr>
          <p:cNvPr id="6" name="Rectangle 5"/>
          <p:cNvSpPr/>
          <p:nvPr/>
        </p:nvSpPr>
        <p:spPr>
          <a:xfrm>
            <a:off x="274320" y="10058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1143000"/>
            <a:ext cx="3886200" cy="384048"/>
          </a:xfrm>
          <a:prstGeom prst="rect">
            <a:avLst/>
          </a:prstGeom>
          <a:noFill/>
        </p:spPr>
        <p:txBody>
          <a:bodyPr wrap="square">
            <a:spAutoFit/>
          </a:bodyPr>
          <a:lstStyle/>
          <a:p>
            <a:pPr algn="l"/>
            <a:r>
              <a:rPr sz="1100" b="1" i="0">
                <a:solidFill>
                  <a:srgbClr val="0A1628"/>
                </a:solidFill>
              </a:rPr>
              <a:t>POLYT5</a:t>
            </a:r>
          </a:p>
        </p:txBody>
      </p:sp>
      <p:sp>
        <p:nvSpPr>
          <p:cNvPr id="9" name="TextBox 8"/>
          <p:cNvSpPr txBox="1"/>
          <p:nvPr/>
        </p:nvSpPr>
        <p:spPr>
          <a:xfrm>
            <a:off x="411479" y="1508760"/>
            <a:ext cx="3886200" cy="1005840"/>
          </a:xfrm>
          <a:prstGeom prst="rect">
            <a:avLst/>
          </a:prstGeom>
          <a:noFill/>
        </p:spPr>
        <p:txBody>
          <a:bodyPr wrap="square">
            <a:spAutoFit/>
          </a:bodyPr>
          <a:lstStyle/>
          <a:p>
            <a:pPr algn="l"/>
            <a:r>
              <a:rPr sz="900" b="0" i="0">
                <a:solidFill>
                  <a:srgbClr val="475569"/>
                </a:solidFill>
              </a:rPr>
              <a:t>Encoder-decoder foundation language model for generative inverse polymer design; accepts property specs and outputs lab-validated novel structures.</a:t>
            </a:r>
          </a:p>
        </p:txBody>
      </p:sp>
      <p:sp>
        <p:nvSpPr>
          <p:cNvPr id="10" name="Rectangle 9"/>
          <p:cNvSpPr/>
          <p:nvPr/>
        </p:nvSpPr>
        <p:spPr>
          <a:xfrm>
            <a:off x="4617720" y="10058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17720" y="10058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143000"/>
            <a:ext cx="3886200" cy="384048"/>
          </a:xfrm>
          <a:prstGeom prst="rect">
            <a:avLst/>
          </a:prstGeom>
          <a:noFill/>
        </p:spPr>
        <p:txBody>
          <a:bodyPr wrap="square">
            <a:spAutoFit/>
          </a:bodyPr>
          <a:lstStyle/>
          <a:p>
            <a:pPr algn="l"/>
            <a:r>
              <a:rPr sz="1100" b="1" i="0">
                <a:solidFill>
                  <a:srgbClr val="0A1628"/>
                </a:solidFill>
              </a:rPr>
              <a:t>OPoly26 Dataset</a:t>
            </a:r>
          </a:p>
        </p:txBody>
      </p:sp>
      <p:sp>
        <p:nvSpPr>
          <p:cNvPr id="13" name="TextBox 12"/>
          <p:cNvSpPr txBox="1"/>
          <p:nvPr/>
        </p:nvSpPr>
        <p:spPr>
          <a:xfrm>
            <a:off x="4754880" y="1508760"/>
            <a:ext cx="3886200" cy="1005840"/>
          </a:xfrm>
          <a:prstGeom prst="rect">
            <a:avLst/>
          </a:prstGeom>
          <a:noFill/>
        </p:spPr>
        <p:txBody>
          <a:bodyPr wrap="square">
            <a:spAutoFit/>
          </a:bodyPr>
          <a:lstStyle/>
          <a:p>
            <a:pPr algn="l"/>
            <a:r>
              <a:rPr sz="900" b="0" i="0">
                <a:solidFill>
                  <a:srgbClr val="475569"/>
                </a:solidFill>
              </a:rPr>
              <a:t>Open benchmark dataset of 6.35M DFT calculations across diverse polymer systems covering composition, architecture, and solvation.</a:t>
            </a:r>
          </a:p>
        </p:txBody>
      </p:sp>
      <p:sp>
        <p:nvSpPr>
          <p:cNvPr id="14" name="Rectangle 13"/>
          <p:cNvSpPr/>
          <p:nvPr/>
        </p:nvSpPr>
        <p:spPr>
          <a:xfrm>
            <a:off x="274320" y="28346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28346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79" y="2971800"/>
            <a:ext cx="3886200" cy="384048"/>
          </a:xfrm>
          <a:prstGeom prst="rect">
            <a:avLst/>
          </a:prstGeom>
          <a:noFill/>
        </p:spPr>
        <p:txBody>
          <a:bodyPr wrap="square">
            <a:spAutoFit/>
          </a:bodyPr>
          <a:lstStyle/>
          <a:p>
            <a:pPr algn="l"/>
            <a:r>
              <a:rPr sz="1100" b="1" i="0">
                <a:solidFill>
                  <a:srgbClr val="0A1628"/>
                </a:solidFill>
              </a:rPr>
              <a:t>PolyMon</a:t>
            </a:r>
          </a:p>
        </p:txBody>
      </p:sp>
      <p:sp>
        <p:nvSpPr>
          <p:cNvPr id="17" name="TextBox 16"/>
          <p:cNvSpPr txBox="1"/>
          <p:nvPr/>
        </p:nvSpPr>
        <p:spPr>
          <a:xfrm>
            <a:off x="411479" y="3337560"/>
            <a:ext cx="3886200" cy="1005840"/>
          </a:xfrm>
          <a:prstGeom prst="rect">
            <a:avLst/>
          </a:prstGeom>
          <a:noFill/>
        </p:spPr>
        <p:txBody>
          <a:bodyPr wrap="square">
            <a:spAutoFit/>
          </a:bodyPr>
          <a:lstStyle/>
          <a:p>
            <a:pPr algn="l"/>
            <a:r>
              <a:rPr sz="900" b="0" i="0">
                <a:solidFill>
                  <a:srgbClr val="475569"/>
                </a:solidFill>
              </a:rPr>
              <a:t>Unified multi-task polymer property prediction framework fusing GNN fingerprints with adaptive representations for thermal properties.</a:t>
            </a:r>
          </a:p>
        </p:txBody>
      </p:sp>
      <p:sp>
        <p:nvSpPr>
          <p:cNvPr id="18" name="Rectangle 17"/>
          <p:cNvSpPr/>
          <p:nvPr/>
        </p:nvSpPr>
        <p:spPr>
          <a:xfrm>
            <a:off x="4617720" y="28346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17720" y="28346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0" y="2971800"/>
            <a:ext cx="3886200" cy="384048"/>
          </a:xfrm>
          <a:prstGeom prst="rect">
            <a:avLst/>
          </a:prstGeom>
          <a:noFill/>
        </p:spPr>
        <p:txBody>
          <a:bodyPr wrap="square">
            <a:spAutoFit/>
          </a:bodyPr>
          <a:lstStyle/>
          <a:p>
            <a:pPr algn="l"/>
            <a:r>
              <a:rPr sz="1100" b="1" i="0">
                <a:solidFill>
                  <a:srgbClr val="0A1628"/>
                </a:solidFill>
              </a:rPr>
              <a:t>Polymer Genome</a:t>
            </a:r>
          </a:p>
        </p:txBody>
      </p:sp>
      <p:sp>
        <p:nvSpPr>
          <p:cNvPr id="21" name="TextBox 20"/>
          <p:cNvSpPr txBox="1"/>
          <p:nvPr/>
        </p:nvSpPr>
        <p:spPr>
          <a:xfrm>
            <a:off x="4754880" y="3337560"/>
            <a:ext cx="3886200" cy="1005840"/>
          </a:xfrm>
          <a:prstGeom prst="rect">
            <a:avLst/>
          </a:prstGeom>
          <a:noFill/>
        </p:spPr>
        <p:txBody>
          <a:bodyPr wrap="square">
            <a:spAutoFit/>
          </a:bodyPr>
          <a:lstStyle/>
          <a:p>
            <a:pPr algn="l"/>
            <a:r>
              <a:rPr sz="900" b="0" i="0">
                <a:solidFill>
                  <a:srgbClr val="475569"/>
                </a:solidFill>
              </a:rPr>
              <a:t>Data-powered polymer informatics platform for property predictions and AI-assisted retrosynthesis planning at polymergenome.org.</a:t>
            </a:r>
          </a:p>
        </p:txBody>
      </p:sp>
      <p:sp>
        <p:nvSpPr>
          <p:cNvPr id="22" name="Rectangle 21"/>
          <p:cNvSpPr/>
          <p:nvPr/>
        </p:nvSpPr>
        <p:spPr>
          <a:xfrm>
            <a:off x="274320" y="46634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46634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79" y="4800600"/>
            <a:ext cx="3886200" cy="384048"/>
          </a:xfrm>
          <a:prstGeom prst="rect">
            <a:avLst/>
          </a:prstGeom>
          <a:noFill/>
        </p:spPr>
        <p:txBody>
          <a:bodyPr wrap="square">
            <a:spAutoFit/>
          </a:bodyPr>
          <a:lstStyle/>
          <a:p>
            <a:pPr algn="l"/>
            <a:r>
              <a:rPr sz="1100" b="1" i="0">
                <a:solidFill>
                  <a:srgbClr val="0A1628"/>
                </a:solidFill>
              </a:rPr>
              <a:t>PI1M</a:t>
            </a:r>
          </a:p>
        </p:txBody>
      </p:sp>
      <p:sp>
        <p:nvSpPr>
          <p:cNvPr id="25" name="TextBox 24"/>
          <p:cNvSpPr txBox="1"/>
          <p:nvPr/>
        </p:nvSpPr>
        <p:spPr>
          <a:xfrm>
            <a:off x="411479" y="5166359"/>
            <a:ext cx="3886200" cy="1005840"/>
          </a:xfrm>
          <a:prstGeom prst="rect">
            <a:avLst/>
          </a:prstGeom>
          <a:noFill/>
        </p:spPr>
        <p:txBody>
          <a:bodyPr wrap="square">
            <a:spAutoFit/>
          </a:bodyPr>
          <a:lstStyle/>
          <a:p>
            <a:pPr algn="l"/>
            <a:r>
              <a:rPr sz="900" b="0" i="0">
                <a:solidFill>
                  <a:srgbClr val="475569"/>
                </a:solidFill>
              </a:rPr>
              <a:t>Benchmark database of approximately 1 million virtual polymers generated by a generative model trained on PolyInfo experimental data.</a:t>
            </a:r>
          </a:p>
        </p:txBody>
      </p:sp>
      <p:sp>
        <p:nvSpPr>
          <p:cNvPr id="26" name="Rectangle 25"/>
          <p:cNvSpPr/>
          <p:nvPr/>
        </p:nvSpPr>
        <p:spPr>
          <a:xfrm>
            <a:off x="4617720" y="46634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46634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0" y="4800600"/>
            <a:ext cx="3886200" cy="384048"/>
          </a:xfrm>
          <a:prstGeom prst="rect">
            <a:avLst/>
          </a:prstGeom>
          <a:noFill/>
        </p:spPr>
        <p:txBody>
          <a:bodyPr wrap="square">
            <a:spAutoFit/>
          </a:bodyPr>
          <a:lstStyle/>
          <a:p>
            <a:pPr algn="l"/>
            <a:r>
              <a:rPr sz="1100" b="1" i="0">
                <a:solidFill>
                  <a:srgbClr val="0A1628"/>
                </a:solidFill>
              </a:rPr>
              <a:t>Imubit Polymer Process AI</a:t>
            </a:r>
          </a:p>
        </p:txBody>
      </p:sp>
      <p:sp>
        <p:nvSpPr>
          <p:cNvPr id="29" name="TextBox 28"/>
          <p:cNvSpPr txBox="1"/>
          <p:nvPr/>
        </p:nvSpPr>
        <p:spPr>
          <a:xfrm>
            <a:off x="4754880" y="5166359"/>
            <a:ext cx="3886200" cy="1005840"/>
          </a:xfrm>
          <a:prstGeom prst="rect">
            <a:avLst/>
          </a:prstGeom>
          <a:noFill/>
        </p:spPr>
        <p:txBody>
          <a:bodyPr wrap="square">
            <a:spAutoFit/>
          </a:bodyPr>
          <a:lstStyle/>
          <a:p>
            <a:pPr algn="l"/>
            <a:r>
              <a:rPr sz="900" b="0" i="0">
                <a:solidFill>
                  <a:srgbClr val="475569"/>
                </a:solidFill>
              </a:rPr>
              <a:t>Industrial AI platform for real-time polymer processing optimisation, delivering 99%+ defect detection accuracy and 10-20% energy reduction.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731520"/>
          </a:xfrm>
          <a:prstGeom prst="rect">
            <a:avLst/>
          </a:prstGeom>
          <a:noFill/>
        </p:spPr>
        <p:txBody>
          <a:bodyPr wrap="square">
            <a:spAutoFit/>
          </a:bodyPr>
          <a:lstStyle/>
          <a:p>
            <a:pPr algn="ctr"/>
            <a:r>
              <a:rPr sz="2600" b="1" i="0">
                <a:solidFill>
                  <a:srgbClr val="FFFFFF"/>
                </a:solidFill>
              </a:rPr>
              <a:t>Outlook &amp; Trends</a:t>
            </a:r>
          </a:p>
        </p:txBody>
      </p:sp>
      <p:sp>
        <p:nvSpPr>
          <p:cNvPr id="5" name="TextBox 4"/>
          <p:cNvSpPr txBox="1"/>
          <p:nvPr/>
        </p:nvSpPr>
        <p:spPr>
          <a:xfrm>
            <a:off x="640080" y="1325880"/>
            <a:ext cx="7863840" cy="2011680"/>
          </a:xfrm>
          <a:prstGeom prst="rect">
            <a:avLst/>
          </a:prstGeom>
          <a:noFill/>
        </p:spPr>
        <p:txBody>
          <a:bodyPr wrap="square">
            <a:spAutoFit/>
          </a:bodyPr>
          <a:lstStyle/>
          <a:p>
            <a:pPr algn="ctr"/>
            <a:r>
              <a:rPr sz="1200" b="0" i="0">
                <a:solidFill>
                  <a:srgbClr val="94A3B8"/>
                </a:solidFill>
              </a:rPr>
              <a:t>The convergence of generative foundation models, autonomous agent pipelines, and mega-scale DFT datasets is compressing the polymer discovery cycle from years to weeks. Within the next 12-18 months, self-driving polymer laboratories that autonomously iterate from property specification through synthesis and characterisation are expected to transition from prototypes to operational facilities at leading industrial and academic centres. Sustainability will be the primary commercial driver:…</a:t>
            </a:r>
          </a:p>
        </p:txBody>
      </p:sp>
      <p:sp>
        <p:nvSpPr>
          <p:cNvPr id="6" name="Rectangle 5"/>
          <p:cNvSpPr/>
          <p:nvPr/>
        </p:nvSpPr>
        <p:spPr>
          <a:xfrm>
            <a:off x="0" y="3474720"/>
            <a:ext cx="9144000" cy="2743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611880"/>
            <a:ext cx="8229600" cy="411480"/>
          </a:xfrm>
          <a:prstGeom prst="rect">
            <a:avLst/>
          </a:prstGeom>
          <a:noFill/>
        </p:spPr>
        <p:txBody>
          <a:bodyPr wrap="square">
            <a:spAutoFit/>
          </a:bodyPr>
          <a:lstStyle/>
          <a:p>
            <a:pPr algn="l"/>
            <a:r>
              <a:rPr sz="1300" b="1" i="0">
                <a:solidFill>
                  <a:srgbClr val="22D3EE"/>
                </a:solidFill>
              </a:rPr>
              <a:t>Key Trends</a:t>
            </a:r>
          </a:p>
        </p:txBody>
      </p:sp>
      <p:sp>
        <p:nvSpPr>
          <p:cNvPr id="8" name="Rectangle 7"/>
          <p:cNvSpPr/>
          <p:nvPr/>
        </p:nvSpPr>
        <p:spPr>
          <a:xfrm>
            <a:off x="457200" y="4178808"/>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069080"/>
            <a:ext cx="7772400" cy="384048"/>
          </a:xfrm>
          <a:prstGeom prst="rect">
            <a:avLst/>
          </a:prstGeom>
          <a:noFill/>
        </p:spPr>
        <p:txBody>
          <a:bodyPr wrap="square">
            <a:spAutoFit/>
          </a:bodyPr>
          <a:lstStyle/>
          <a:p>
            <a:pPr algn="l"/>
            <a:r>
              <a:rPr sz="1100" b="0" i="0">
                <a:solidFill>
                  <a:srgbClr val="FFFFFF"/>
                </a:solidFill>
              </a:rPr>
              <a:t>Generative foundation models move from academic benchmarks to lab-validated polymer synthesis</a:t>
            </a:r>
          </a:p>
        </p:txBody>
      </p:sp>
      <p:sp>
        <p:nvSpPr>
          <p:cNvPr id="10" name="Rectangle 9"/>
          <p:cNvSpPr/>
          <p:nvPr/>
        </p:nvSpPr>
        <p:spPr>
          <a:xfrm>
            <a:off x="457200" y="4581144"/>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471416"/>
            <a:ext cx="7772400" cy="384048"/>
          </a:xfrm>
          <a:prstGeom prst="rect">
            <a:avLst/>
          </a:prstGeom>
          <a:noFill/>
        </p:spPr>
        <p:txBody>
          <a:bodyPr wrap="square">
            <a:spAutoFit/>
          </a:bodyPr>
          <a:lstStyle/>
          <a:p>
            <a:pPr algn="l"/>
            <a:r>
              <a:rPr sz="1100" b="0" i="0">
                <a:solidFill>
                  <a:srgbClr val="FFFFFF"/>
                </a:solidFill>
              </a:rPr>
              <a:t>Autonomous multi-agent pipelines collapse the property prediction-design-synthesis cycle</a:t>
            </a:r>
          </a:p>
        </p:txBody>
      </p:sp>
      <p:sp>
        <p:nvSpPr>
          <p:cNvPr id="12" name="Rectangle 11"/>
          <p:cNvSpPr/>
          <p:nvPr/>
        </p:nvSpPr>
        <p:spPr>
          <a:xfrm>
            <a:off x="457200" y="4983480"/>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873752"/>
            <a:ext cx="7772400" cy="384048"/>
          </a:xfrm>
          <a:prstGeom prst="rect">
            <a:avLst/>
          </a:prstGeom>
          <a:noFill/>
        </p:spPr>
        <p:txBody>
          <a:bodyPr wrap="square">
            <a:spAutoFit/>
          </a:bodyPr>
          <a:lstStyle/>
          <a:p>
            <a:pPr algn="l"/>
            <a:r>
              <a:rPr sz="1100" b="0" i="0">
                <a:solidFill>
                  <a:srgbClr val="FFFFFF"/>
                </a:solidFill>
              </a:rPr>
              <a:t>AI recycling and sustainability applications become core industrial strategy, not niche R&amp;D</a:t>
            </a:r>
          </a:p>
        </p:txBody>
      </p:sp>
      <p:sp>
        <p:nvSpPr>
          <p:cNvPr id="14" name="Rectangle 13"/>
          <p:cNvSpPr/>
          <p:nvPr/>
        </p:nvSpPr>
        <p:spPr>
          <a:xfrm>
            <a:off x="457200" y="5385816"/>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276088"/>
            <a:ext cx="7772400" cy="384048"/>
          </a:xfrm>
          <a:prstGeom prst="rect">
            <a:avLst/>
          </a:prstGeom>
          <a:noFill/>
        </p:spPr>
        <p:txBody>
          <a:bodyPr wrap="square">
            <a:spAutoFit/>
          </a:bodyPr>
          <a:lstStyle/>
          <a:p>
            <a:pPr algn="l"/>
            <a:r>
              <a:rPr sz="1100" b="0" i="0">
                <a:solidFill>
                  <a:srgbClr val="FFFFFF"/>
                </a:solidFill>
              </a:rPr>
              <a:t>LLMs replace classical feature engineering for polymer informatics classification tasks</a:t>
            </a:r>
          </a:p>
        </p:txBody>
      </p:sp>
      <p:sp>
        <p:nvSpPr>
          <p:cNvPr id="16" name="Rectangle 15"/>
          <p:cNvSpPr/>
          <p:nvPr/>
        </p:nvSpPr>
        <p:spPr>
          <a:xfrm>
            <a:off x="457200" y="5788152"/>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678424"/>
            <a:ext cx="7772400" cy="384048"/>
          </a:xfrm>
          <a:prstGeom prst="rect">
            <a:avLst/>
          </a:prstGeom>
          <a:noFill/>
        </p:spPr>
        <p:txBody>
          <a:bodyPr wrap="square">
            <a:spAutoFit/>
          </a:bodyPr>
          <a:lstStyle/>
          <a:p>
            <a:pPr algn="l"/>
            <a:r>
              <a:rPr sz="1100" b="0" i="0">
                <a:solidFill>
                  <a:srgbClr val="FFFFFF"/>
                </a:solidFill>
              </a:rPr>
              <a:t>Mega-datasets (OPoly26, 6.35M DFT calculations) democratise high-accuracy ML training</a:t>
            </a:r>
          </a:p>
        </p:txBody>
      </p:sp>
      <p:sp>
        <p:nvSpPr>
          <p:cNvPr id="18" name="TextBox 17"/>
          <p:cNvSpPr txBox="1"/>
          <p:nvPr/>
        </p:nvSpPr>
        <p:spPr>
          <a:xfrm>
            <a:off x="0" y="6492240"/>
            <a:ext cx="9144000" cy="274320"/>
          </a:xfrm>
          <a:prstGeom prst="rect">
            <a:avLst/>
          </a:prstGeom>
          <a:noFill/>
        </p:spPr>
        <p:txBody>
          <a:bodyPr wrap="square">
            <a:spAutoFit/>
          </a:bodyPr>
          <a:lstStyle/>
          <a:p>
            <a:pPr algn="ctr"/>
            <a:r>
              <a:rPr sz="800" b="0" i="0">
                <a:solidFill>
                  <a:srgbClr val="64748B"/>
                </a:solidFill>
              </a:rPr>
              <a:t>Generated by Polymer AI Research Agent  ·  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