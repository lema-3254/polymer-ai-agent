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771900"/>
            <a:ext cx="9144000" cy="36576"/>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8229600" cy="1005840"/>
          </a:xfrm>
          <a:prstGeom prst="rect">
            <a:avLst/>
          </a:prstGeom>
          <a:noFill/>
        </p:spPr>
        <p:txBody>
          <a:bodyPr wrap="square">
            <a:spAutoFit/>
          </a:bodyPr>
          <a:lstStyle/>
          <a:p>
            <a:pPr algn="ctr"/>
            <a:r>
              <a:rPr sz="3400" b="1" i="0">
                <a:solidFill>
                  <a:srgbClr val="FFFFFF"/>
                </a:solidFill>
              </a:rPr>
              <a:t>AI Tools for Polymer Materials</a:t>
            </a:r>
          </a:p>
        </p:txBody>
      </p:sp>
      <p:sp>
        <p:nvSpPr>
          <p:cNvPr id="6" name="TextBox 5"/>
          <p:cNvSpPr txBox="1"/>
          <p:nvPr/>
        </p:nvSpPr>
        <p:spPr>
          <a:xfrm>
            <a:off x="457200" y="2377440"/>
            <a:ext cx="8229600" cy="548640"/>
          </a:xfrm>
          <a:prstGeom prst="rect">
            <a:avLst/>
          </a:prstGeom>
          <a:noFill/>
        </p:spPr>
        <p:txBody>
          <a:bodyPr wrap="square">
            <a:spAutoFit/>
          </a:bodyPr>
          <a:lstStyle/>
          <a:p>
            <a:pPr algn="ctr"/>
            <a:r>
              <a:rPr sz="1800" b="0" i="0">
                <a:solidFill>
                  <a:srgbClr val="22D3EE"/>
                </a:solidFill>
              </a:rPr>
              <a:t>Daily Research Digest</a:t>
            </a:r>
          </a:p>
        </p:txBody>
      </p:sp>
      <p:sp>
        <p:nvSpPr>
          <p:cNvPr id="7" name="TextBox 6"/>
          <p:cNvSpPr txBox="1"/>
          <p:nvPr/>
        </p:nvSpPr>
        <p:spPr>
          <a:xfrm>
            <a:off x="457200" y="2926080"/>
            <a:ext cx="8229600" cy="411480"/>
          </a:xfrm>
          <a:prstGeom prst="rect">
            <a:avLst/>
          </a:prstGeom>
          <a:noFill/>
        </p:spPr>
        <p:txBody>
          <a:bodyPr wrap="square">
            <a:spAutoFit/>
          </a:bodyPr>
          <a:lstStyle/>
          <a:p>
            <a:pPr algn="ctr"/>
            <a:r>
              <a:rPr sz="1300" b="0" i="0">
                <a:solidFill>
                  <a:srgbClr val="64748B"/>
                </a:solidFill>
              </a:rPr>
              <a:t>2026-06-08</a:t>
            </a:r>
          </a:p>
        </p:txBody>
      </p:sp>
      <p:sp>
        <p:nvSpPr>
          <p:cNvPr id="8" name="TextBox 7"/>
          <p:cNvSpPr txBox="1"/>
          <p:nvPr/>
        </p:nvSpPr>
        <p:spPr>
          <a:xfrm>
            <a:off x="822960" y="3749039"/>
            <a:ext cx="7498079" cy="822960"/>
          </a:xfrm>
          <a:prstGeom prst="rect">
            <a:avLst/>
          </a:prstGeom>
          <a:noFill/>
        </p:spPr>
        <p:txBody>
          <a:bodyPr wrap="square">
            <a:spAutoFit/>
          </a:bodyPr>
          <a:lstStyle/>
          <a:p>
            <a:pPr algn="ctr"/>
            <a:r>
              <a:rPr sz="1300" b="1" i="1">
                <a:solidFill>
                  <a:srgbClr val="94A3B8"/>
                </a:solidFill>
              </a:rPr>
              <a:t>"From lab-validated generative design to 60% recycling efficiency gains, AI is now reshaping every stage of the polymer lifecycle."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Executive Summary</a:t>
            </a:r>
          </a:p>
        </p:txBody>
      </p:sp>
      <p:sp>
        <p:nvSpPr>
          <p:cNvPr id="6" name="TextBox 5"/>
          <p:cNvSpPr txBox="1"/>
          <p:nvPr/>
        </p:nvSpPr>
        <p:spPr>
          <a:xfrm>
            <a:off x="457200" y="1051560"/>
            <a:ext cx="8229600" cy="4206240"/>
          </a:xfrm>
          <a:prstGeom prst="rect">
            <a:avLst/>
          </a:prstGeom>
          <a:noFill/>
        </p:spPr>
        <p:txBody>
          <a:bodyPr wrap="square">
            <a:spAutoFit/>
          </a:bodyPr>
          <a:lstStyle/>
          <a:p>
            <a:pPr algn="l"/>
            <a:r>
              <a:rPr sz="1200" b="0" i="0">
                <a:solidFill>
                  <a:srgbClr val="1E293B"/>
                </a:solidFill>
              </a:rPr>
              <a:t>The week of 8 June 2026 marks a decisive inflection point for AI in polymer science. Georgia Tech researchers unveiled POLYT5, the first foundation chemical-language model for generative polymer design that has been physically validated in the laboratory, successfully producing a dielectric material with target properties on the first attempt. This end-to-end loop — from desired property to working material without human trial-and-error — signals that inverse design has crossed from research curiosity to practical engineering tool.
On the informatics front, the Open Polymers 2026 (OPoly26) dataset released over 6.35 million DFT calculations covering diverse chain architectures and…</a:t>
            </a:r>
          </a:p>
        </p:txBody>
      </p:sp>
      <p:sp>
        <p:nvSpPr>
          <p:cNvPr id="7" name="Rectangle 6"/>
          <p:cNvSpPr/>
          <p:nvPr/>
        </p:nvSpPr>
        <p:spPr>
          <a:xfrm>
            <a:off x="365760"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5550408"/>
            <a:ext cx="1874520" cy="347472"/>
          </a:xfrm>
          <a:prstGeom prst="rect">
            <a:avLst/>
          </a:prstGeom>
          <a:noFill/>
        </p:spPr>
        <p:txBody>
          <a:bodyPr wrap="square">
            <a:spAutoFit/>
          </a:bodyPr>
          <a:lstStyle/>
          <a:p>
            <a:pPr algn="l"/>
            <a:r>
              <a:rPr sz="800" b="0" i="0">
                <a:solidFill>
                  <a:srgbClr val="FFFFFF"/>
                </a:solidFill>
              </a:rPr>
              <a:t>Inverse design is going experimental: …</a:t>
            </a:r>
          </a:p>
        </p:txBody>
      </p:sp>
      <p:sp>
        <p:nvSpPr>
          <p:cNvPr id="9" name="Rectangle 8"/>
          <p:cNvSpPr/>
          <p:nvPr/>
        </p:nvSpPr>
        <p:spPr>
          <a:xfrm>
            <a:off x="2532888"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24328" y="5550408"/>
            <a:ext cx="1874520" cy="347472"/>
          </a:xfrm>
          <a:prstGeom prst="rect">
            <a:avLst/>
          </a:prstGeom>
          <a:noFill/>
        </p:spPr>
        <p:txBody>
          <a:bodyPr wrap="square">
            <a:spAutoFit/>
          </a:bodyPr>
          <a:lstStyle/>
          <a:p>
            <a:pPr algn="l"/>
            <a:r>
              <a:rPr sz="800" b="0" i="0">
                <a:solidFill>
                  <a:srgbClr val="FFFFFF"/>
                </a:solidFill>
              </a:rPr>
              <a:t>Multimodal LLMs (text + 3D structure) …</a:t>
            </a:r>
          </a:p>
        </p:txBody>
      </p:sp>
      <p:sp>
        <p:nvSpPr>
          <p:cNvPr id="11" name="Rectangle 10"/>
          <p:cNvSpPr/>
          <p:nvPr/>
        </p:nvSpPr>
        <p:spPr>
          <a:xfrm>
            <a:off x="4700016"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91456" y="5550408"/>
            <a:ext cx="1874520" cy="347472"/>
          </a:xfrm>
          <a:prstGeom prst="rect">
            <a:avLst/>
          </a:prstGeom>
          <a:noFill/>
        </p:spPr>
        <p:txBody>
          <a:bodyPr wrap="square">
            <a:spAutoFit/>
          </a:bodyPr>
          <a:lstStyle/>
          <a:p>
            <a:pPr algn="l"/>
            <a:r>
              <a:rPr sz="800" b="0" i="0">
                <a:solidFill>
                  <a:srgbClr val="FFFFFF"/>
                </a:solidFill>
              </a:rPr>
              <a:t>Self-driving polymer laboratories are …</a:t>
            </a:r>
          </a:p>
        </p:txBody>
      </p:sp>
      <p:sp>
        <p:nvSpPr>
          <p:cNvPr id="13" name="Rectangle 12"/>
          <p:cNvSpPr/>
          <p:nvPr/>
        </p:nvSpPr>
        <p:spPr>
          <a:xfrm>
            <a:off x="6867144" y="5532120"/>
            <a:ext cx="2011680" cy="384048"/>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58584" y="5550408"/>
            <a:ext cx="1874520" cy="347472"/>
          </a:xfrm>
          <a:prstGeom prst="rect">
            <a:avLst/>
          </a:prstGeom>
          <a:noFill/>
        </p:spPr>
        <p:txBody>
          <a:bodyPr wrap="square">
            <a:spAutoFit/>
          </a:bodyPr>
          <a:lstStyle/>
          <a:p>
            <a:pPr algn="l"/>
            <a:r>
              <a:rPr sz="800" b="0" i="0">
                <a:solidFill>
                  <a:srgbClr val="FFFFFF"/>
                </a:solidFill>
              </a:rPr>
              <a:t>Open large-scale datasets (OPoly26) 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POLYT5: First Lab-Validated AI for Generative Polymer Design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Georgia Tech researchers created POLYT5, an encoder-decoder foundation chemical-language model that generates polymer structures from a target property specification — the inverse of conventional prediction. A dielectric polymer produced by the…</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OPoly26: 6.35 Million DFT Calculations Released as Open Benchmark Dataset</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Property Prediction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The Open Polymers 2026 (OPoly26) dataset provides 6.35 million density functional theory calculations on polymer systems, capturing monomer composition, degree of polymerisation, chain architecture, and solvation environment variations. Its release…</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PolyLLMem: Multimodal Llama 3 + Uni-Mol Fusion Matches GNNs on 22 Polymer Properties</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PolyLLMem fuses Llama 3 text embeddings with Uni-Mol molecular structure embeddings via Low-Rank Adaptation (LoRA) fine-tuning to predict 22 polymer properties. The model matches or exceeds dedicated graph-neural-network baselines that require…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Autonomous Multi-Agent AI Orchestrates End-to-End Polymer Informatics Pipeline</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LLMs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February 2026 arXiv preprint describes a network of specialised AI agents that covers the full polymer informatics pipeline: literature mining, property prediction, generative design, and retrosynthesis planning across synthetic and bio-polymers.…</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Bayesian Network-XGBoost Framework Predicts PP Alloy Mechanics Despite Missing Data</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Property Prediction  ·  Impact: MEDIUM</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A 2026 Journal of Polymer Science paper presents a two-stage ML framework using Bayesian networks for guided feature selection followed by hierarchical XGBoost regression to predict impact strength and flexural modulus in polypropylene alloys. The…</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Deep Learning FTIR Fingerprint Models Achieve 87% Accuracy for Polymer ID</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Characterization  ·  Impact: MEDIUM</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2026 MRS Advances study trained a deep learning model to predict FTIR spectra in the fingerprint region (600-1800 cm-1) for commodity polymers, achieving 87% accuracy for polystyrene, 84% for HDPE, and 81% for PET. The model reduces reliance 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AI-Driven Polymer Manufacturing: Real-Time Control Delivers 15-30% Scrap Reduction</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Processing  ·  Impact: MEDIUM</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 comprehensive review in MRS Communications (2026) catalogues AI deployment across polymer processing: real-time extruder parameter control, defect detection in injection moulding, and closed-loop optimisation of additive manufacturing print paths.…</a:t>
            </a:r>
          </a:p>
        </p:txBody>
      </p:sp>
      <p:sp>
        <p:nvSpPr>
          <p:cNvPr id="11" name="Rectangle 10"/>
          <p:cNvSpPr/>
          <p:nvPr/>
        </p:nvSpPr>
        <p:spPr>
          <a:xfrm>
            <a:off x="274320" y="28346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28346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926080"/>
            <a:ext cx="7315200" cy="384048"/>
          </a:xfrm>
          <a:prstGeom prst="rect">
            <a:avLst/>
          </a:prstGeom>
          <a:noFill/>
        </p:spPr>
        <p:txBody>
          <a:bodyPr wrap="square">
            <a:spAutoFit/>
          </a:bodyPr>
          <a:lstStyle/>
          <a:p>
            <a:pPr algn="l"/>
            <a:r>
              <a:rPr sz="1100" b="1" i="0">
                <a:solidFill>
                  <a:srgbClr val="0A1628"/>
                </a:solidFill>
              </a:rPr>
              <a:t>AI-Driven Sorting Delivers Up to 60% Recycling Efficiency Gains</a:t>
            </a:r>
          </a:p>
        </p:txBody>
      </p:sp>
      <p:sp>
        <p:nvSpPr>
          <p:cNvPr id="14" name="TextBox 13"/>
          <p:cNvSpPr txBox="1"/>
          <p:nvPr/>
        </p:nvSpPr>
        <p:spPr>
          <a:xfrm>
            <a:off x="502920" y="3273552"/>
            <a:ext cx="7315200" cy="274320"/>
          </a:xfrm>
          <a:prstGeom prst="rect">
            <a:avLst/>
          </a:prstGeom>
          <a:noFill/>
        </p:spPr>
        <p:txBody>
          <a:bodyPr wrap="square">
            <a:spAutoFit/>
          </a:bodyPr>
          <a:lstStyle/>
          <a:p>
            <a:pPr algn="l"/>
            <a:r>
              <a:rPr sz="800" b="0" i="1">
                <a:solidFill>
                  <a:srgbClr val="64748B"/>
                </a:solidFill>
              </a:rPr>
              <a:t>Sustainability  ·  Impact: HIGH</a:t>
            </a:r>
          </a:p>
        </p:txBody>
      </p:sp>
      <p:sp>
        <p:nvSpPr>
          <p:cNvPr id="15" name="TextBox 14"/>
          <p:cNvSpPr txBox="1"/>
          <p:nvPr/>
        </p:nvSpPr>
        <p:spPr>
          <a:xfrm>
            <a:off x="502920" y="3529584"/>
            <a:ext cx="7955279" cy="822960"/>
          </a:xfrm>
          <a:prstGeom prst="rect">
            <a:avLst/>
          </a:prstGeom>
          <a:noFill/>
        </p:spPr>
        <p:txBody>
          <a:bodyPr wrap="square">
            <a:spAutoFit/>
          </a:bodyPr>
          <a:lstStyle/>
          <a:p>
            <a:pPr algn="l"/>
            <a:r>
              <a:rPr sz="900" b="0" i="0">
                <a:solidFill>
                  <a:srgbClr val="475569"/>
                </a:solidFill>
              </a:rPr>
              <a:t>Industry data from the AI Circular Economy Conference (Cologne, March 2026) shows that deep learning-powered near-infrared and hyperspectral sorting systems are achieving up to 60% efficiency gains over manual sorting in municipal plastic recycling…</a:t>
            </a:r>
          </a:p>
        </p:txBody>
      </p:sp>
      <p:sp>
        <p:nvSpPr>
          <p:cNvPr id="16" name="Rectangle 15"/>
          <p:cNvSpPr/>
          <p:nvPr/>
        </p:nvSpPr>
        <p:spPr>
          <a:xfrm>
            <a:off x="274320" y="46634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320" y="4663440"/>
            <a:ext cx="109728" cy="164592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754879"/>
            <a:ext cx="7315200" cy="384048"/>
          </a:xfrm>
          <a:prstGeom prst="rect">
            <a:avLst/>
          </a:prstGeom>
          <a:noFill/>
        </p:spPr>
        <p:txBody>
          <a:bodyPr wrap="square">
            <a:spAutoFit/>
          </a:bodyPr>
          <a:lstStyle/>
          <a:p>
            <a:pPr algn="l"/>
            <a:r>
              <a:rPr sz="1100" b="1" i="0">
                <a:solidFill>
                  <a:srgbClr val="0A1628"/>
                </a:solidFill>
              </a:rPr>
              <a:t>Multi-Objective AI Optimises Plastic Waste Pyrolysis for Circular Recycling</a:t>
            </a:r>
          </a:p>
        </p:txBody>
      </p:sp>
      <p:sp>
        <p:nvSpPr>
          <p:cNvPr id="19" name="TextBox 18"/>
          <p:cNvSpPr txBox="1"/>
          <p:nvPr/>
        </p:nvSpPr>
        <p:spPr>
          <a:xfrm>
            <a:off x="502920" y="5102352"/>
            <a:ext cx="7315200" cy="274320"/>
          </a:xfrm>
          <a:prstGeom prst="rect">
            <a:avLst/>
          </a:prstGeom>
          <a:noFill/>
        </p:spPr>
        <p:txBody>
          <a:bodyPr wrap="square">
            <a:spAutoFit/>
          </a:bodyPr>
          <a:lstStyle/>
          <a:p>
            <a:pPr algn="l"/>
            <a:r>
              <a:rPr sz="800" b="0" i="1">
                <a:solidFill>
                  <a:srgbClr val="64748B"/>
                </a:solidFill>
              </a:rPr>
              <a:t>Sustainability  ·  Impact: MEDIUM</a:t>
            </a:r>
          </a:p>
        </p:txBody>
      </p:sp>
      <p:sp>
        <p:nvSpPr>
          <p:cNvPr id="20" name="TextBox 19"/>
          <p:cNvSpPr txBox="1"/>
          <p:nvPr/>
        </p:nvSpPr>
        <p:spPr>
          <a:xfrm>
            <a:off x="502920" y="5358383"/>
            <a:ext cx="7955279" cy="822960"/>
          </a:xfrm>
          <a:prstGeom prst="rect">
            <a:avLst/>
          </a:prstGeom>
          <a:noFill/>
        </p:spPr>
        <p:txBody>
          <a:bodyPr wrap="square">
            <a:spAutoFit/>
          </a:bodyPr>
          <a:lstStyle/>
          <a:p>
            <a:pPr algn="l"/>
            <a:r>
              <a:rPr sz="900" b="0" i="0">
                <a:solidFill>
                  <a:srgbClr val="475569"/>
                </a:solidFill>
              </a:rPr>
              <a:t>A Polymers (MDPI) paper demonstrates a multi-objective ML optimisation framework for plastic waste pyrolysis that simultaneously maximises product yield, minimises energy input, and optimises Energy Return on Investment (EROI). The model was trained…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Key Findings (continued)</a:t>
            </a:r>
          </a:p>
        </p:txBody>
      </p:sp>
      <p:sp>
        <p:nvSpPr>
          <p:cNvPr id="6" name="Rectangle 5"/>
          <p:cNvSpPr/>
          <p:nvPr/>
        </p:nvSpPr>
        <p:spPr>
          <a:xfrm>
            <a:off x="274320" y="1005840"/>
            <a:ext cx="859536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109728" cy="1645920"/>
          </a:xfrm>
          <a:prstGeom prst="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097280"/>
            <a:ext cx="7315200" cy="384048"/>
          </a:xfrm>
          <a:prstGeom prst="rect">
            <a:avLst/>
          </a:prstGeom>
          <a:noFill/>
        </p:spPr>
        <p:txBody>
          <a:bodyPr wrap="square">
            <a:spAutoFit/>
          </a:bodyPr>
          <a:lstStyle/>
          <a:p>
            <a:pPr algn="l"/>
            <a:r>
              <a:rPr sz="1100" b="1" i="0">
                <a:solidFill>
                  <a:srgbClr val="0A1628"/>
                </a:solidFill>
              </a:rPr>
              <a:t>Polybot: Argonne's Autonomous Platform Synthesises Electrochromic Polymers</a:t>
            </a:r>
          </a:p>
        </p:txBody>
      </p:sp>
      <p:sp>
        <p:nvSpPr>
          <p:cNvPr id="9" name="TextBox 8"/>
          <p:cNvSpPr txBox="1"/>
          <p:nvPr/>
        </p:nvSpPr>
        <p:spPr>
          <a:xfrm>
            <a:off x="502920" y="1444752"/>
            <a:ext cx="7315200" cy="274320"/>
          </a:xfrm>
          <a:prstGeom prst="rect">
            <a:avLst/>
          </a:prstGeom>
          <a:noFill/>
        </p:spPr>
        <p:txBody>
          <a:bodyPr wrap="square">
            <a:spAutoFit/>
          </a:bodyPr>
          <a:lstStyle/>
          <a:p>
            <a:pPr algn="l"/>
            <a:r>
              <a:rPr sz="800" b="0" i="1">
                <a:solidFill>
                  <a:srgbClr val="64748B"/>
                </a:solidFill>
              </a:rPr>
              <a:t>Generative Design  ·  Impact: HIGH</a:t>
            </a:r>
          </a:p>
        </p:txBody>
      </p:sp>
      <p:sp>
        <p:nvSpPr>
          <p:cNvPr id="10" name="TextBox 9"/>
          <p:cNvSpPr txBox="1"/>
          <p:nvPr/>
        </p:nvSpPr>
        <p:spPr>
          <a:xfrm>
            <a:off x="502920" y="1700784"/>
            <a:ext cx="7955279" cy="822960"/>
          </a:xfrm>
          <a:prstGeom prst="rect">
            <a:avLst/>
          </a:prstGeom>
          <a:noFill/>
        </p:spPr>
        <p:txBody>
          <a:bodyPr wrap="square">
            <a:spAutoFit/>
          </a:bodyPr>
          <a:lstStyle/>
          <a:p>
            <a:pPr algn="l"/>
            <a:r>
              <a:rPr sz="900" b="0" i="0">
                <a:solidFill>
                  <a:srgbClr val="475569"/>
                </a:solidFill>
              </a:rPr>
              <a:t>Argonne National Laboratory's Polybot platform autonomously designs, synthesises, and characterises electrochromic polymers for smart display and energy storage applications without human intervention in the design loop. The system integrates an ML…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
            <a:ext cx="8412480" cy="685800"/>
          </a:xfrm>
          <a:prstGeom prst="rect">
            <a:avLst/>
          </a:prstGeom>
          <a:noFill/>
        </p:spPr>
        <p:txBody>
          <a:bodyPr wrap="square">
            <a:spAutoFit/>
          </a:bodyPr>
          <a:lstStyle/>
          <a:p>
            <a:pPr algn="l"/>
            <a:r>
              <a:rPr sz="2200" b="1" i="0">
                <a:solidFill>
                  <a:srgbClr val="FFFFFF"/>
                </a:solidFill>
              </a:rPr>
              <a:t>Notable Tools &amp; Resources</a:t>
            </a:r>
          </a:p>
        </p:txBody>
      </p:sp>
      <p:sp>
        <p:nvSpPr>
          <p:cNvPr id="6" name="Rectangle 5"/>
          <p:cNvSpPr/>
          <p:nvPr/>
        </p:nvSpPr>
        <p:spPr>
          <a:xfrm>
            <a:off x="2743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79" y="1143000"/>
            <a:ext cx="3886200" cy="384048"/>
          </a:xfrm>
          <a:prstGeom prst="rect">
            <a:avLst/>
          </a:prstGeom>
          <a:noFill/>
        </p:spPr>
        <p:txBody>
          <a:bodyPr wrap="square">
            <a:spAutoFit/>
          </a:bodyPr>
          <a:lstStyle/>
          <a:p>
            <a:pPr algn="l"/>
            <a:r>
              <a:rPr sz="1100" b="1" i="0">
                <a:solidFill>
                  <a:srgbClr val="0A1628"/>
                </a:solidFill>
              </a:rPr>
              <a:t>POLYT5</a:t>
            </a:r>
          </a:p>
        </p:txBody>
      </p:sp>
      <p:sp>
        <p:nvSpPr>
          <p:cNvPr id="9" name="TextBox 8"/>
          <p:cNvSpPr txBox="1"/>
          <p:nvPr/>
        </p:nvSpPr>
        <p:spPr>
          <a:xfrm>
            <a:off x="411479" y="1508760"/>
            <a:ext cx="3886200" cy="1005840"/>
          </a:xfrm>
          <a:prstGeom prst="rect">
            <a:avLst/>
          </a:prstGeom>
          <a:noFill/>
        </p:spPr>
        <p:txBody>
          <a:bodyPr wrap="square">
            <a:spAutoFit/>
          </a:bodyPr>
          <a:lstStyle/>
          <a:p>
            <a:pPr algn="l"/>
            <a:r>
              <a:rPr sz="900" b="0" i="0">
                <a:solidFill>
                  <a:srgbClr val="475569"/>
                </a:solidFill>
              </a:rPr>
              <a:t>Encoder-decoder chemical-language foundation model for generative inverse design of polymers from target properties; first to be experimentally validated…</a:t>
            </a:r>
          </a:p>
        </p:txBody>
      </p:sp>
      <p:sp>
        <p:nvSpPr>
          <p:cNvPr id="10" name="Rectangle 9"/>
          <p:cNvSpPr/>
          <p:nvPr/>
        </p:nvSpPr>
        <p:spPr>
          <a:xfrm>
            <a:off x="4617720" y="10058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17720" y="10058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1143000"/>
            <a:ext cx="3886200" cy="384048"/>
          </a:xfrm>
          <a:prstGeom prst="rect">
            <a:avLst/>
          </a:prstGeom>
          <a:noFill/>
        </p:spPr>
        <p:txBody>
          <a:bodyPr wrap="square">
            <a:spAutoFit/>
          </a:bodyPr>
          <a:lstStyle/>
          <a:p>
            <a:pPr algn="l"/>
            <a:r>
              <a:rPr sz="1100" b="1" i="0">
                <a:solidFill>
                  <a:srgbClr val="0A1628"/>
                </a:solidFill>
              </a:rPr>
              <a:t>PolyLLMem</a:t>
            </a:r>
          </a:p>
        </p:txBody>
      </p:sp>
      <p:sp>
        <p:nvSpPr>
          <p:cNvPr id="13" name="TextBox 12"/>
          <p:cNvSpPr txBox="1"/>
          <p:nvPr/>
        </p:nvSpPr>
        <p:spPr>
          <a:xfrm>
            <a:off x="4754880" y="1508760"/>
            <a:ext cx="3886200" cy="1005840"/>
          </a:xfrm>
          <a:prstGeom prst="rect">
            <a:avLst/>
          </a:prstGeom>
          <a:noFill/>
        </p:spPr>
        <p:txBody>
          <a:bodyPr wrap="square">
            <a:spAutoFit/>
          </a:bodyPr>
          <a:lstStyle/>
          <a:p>
            <a:pPr algn="l"/>
            <a:r>
              <a:rPr sz="900" b="0" i="0">
                <a:solidFill>
                  <a:srgbClr val="475569"/>
                </a:solidFill>
              </a:rPr>
              <a:t>Multimodal ML model fusing Llama 3 text and Uni-Mol structure embeddings via LoRA to predict 22 polymer properties with minimal labelled data.</a:t>
            </a:r>
          </a:p>
        </p:txBody>
      </p:sp>
      <p:sp>
        <p:nvSpPr>
          <p:cNvPr id="14" name="Rectangle 13"/>
          <p:cNvSpPr/>
          <p:nvPr/>
        </p:nvSpPr>
        <p:spPr>
          <a:xfrm>
            <a:off x="2743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79" y="2971800"/>
            <a:ext cx="3886200" cy="384048"/>
          </a:xfrm>
          <a:prstGeom prst="rect">
            <a:avLst/>
          </a:prstGeom>
          <a:noFill/>
        </p:spPr>
        <p:txBody>
          <a:bodyPr wrap="square">
            <a:spAutoFit/>
          </a:bodyPr>
          <a:lstStyle/>
          <a:p>
            <a:pPr algn="l"/>
            <a:r>
              <a:rPr sz="1100" b="1" i="0">
                <a:solidFill>
                  <a:srgbClr val="0A1628"/>
                </a:solidFill>
              </a:rPr>
              <a:t>OPoly26 Dataset</a:t>
            </a:r>
          </a:p>
        </p:txBody>
      </p:sp>
      <p:sp>
        <p:nvSpPr>
          <p:cNvPr id="17" name="TextBox 16"/>
          <p:cNvSpPr txBox="1"/>
          <p:nvPr/>
        </p:nvSpPr>
        <p:spPr>
          <a:xfrm>
            <a:off x="411479" y="3337560"/>
            <a:ext cx="3886200" cy="1005840"/>
          </a:xfrm>
          <a:prstGeom prst="rect">
            <a:avLst/>
          </a:prstGeom>
          <a:noFill/>
        </p:spPr>
        <p:txBody>
          <a:bodyPr wrap="square">
            <a:spAutoFit/>
          </a:bodyPr>
          <a:lstStyle/>
          <a:p>
            <a:pPr algn="l"/>
            <a:r>
              <a:rPr sz="900" b="0" i="0">
                <a:solidFill>
                  <a:srgbClr val="475569"/>
                </a:solidFill>
              </a:rPr>
              <a:t>Open benchmark of 6.35 million DFT calculations on polymer systems for training and evaluating property-prediction models.</a:t>
            </a:r>
          </a:p>
        </p:txBody>
      </p:sp>
      <p:sp>
        <p:nvSpPr>
          <p:cNvPr id="18" name="Rectangle 17"/>
          <p:cNvSpPr/>
          <p:nvPr/>
        </p:nvSpPr>
        <p:spPr>
          <a:xfrm>
            <a:off x="4617720" y="28346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617720" y="28346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0" y="2971800"/>
            <a:ext cx="3886200" cy="384048"/>
          </a:xfrm>
          <a:prstGeom prst="rect">
            <a:avLst/>
          </a:prstGeom>
          <a:noFill/>
        </p:spPr>
        <p:txBody>
          <a:bodyPr wrap="square">
            <a:spAutoFit/>
          </a:bodyPr>
          <a:lstStyle/>
          <a:p>
            <a:pPr algn="l"/>
            <a:r>
              <a:rPr sz="1100" b="1" i="0">
                <a:solidFill>
                  <a:srgbClr val="0A1628"/>
                </a:solidFill>
              </a:rPr>
              <a:t>Polybot (Argonne)</a:t>
            </a:r>
          </a:p>
        </p:txBody>
      </p:sp>
      <p:sp>
        <p:nvSpPr>
          <p:cNvPr id="21" name="TextBox 20"/>
          <p:cNvSpPr txBox="1"/>
          <p:nvPr/>
        </p:nvSpPr>
        <p:spPr>
          <a:xfrm>
            <a:off x="4754880" y="3337560"/>
            <a:ext cx="3886200" cy="1005840"/>
          </a:xfrm>
          <a:prstGeom prst="rect">
            <a:avLst/>
          </a:prstGeom>
          <a:noFill/>
        </p:spPr>
        <p:txBody>
          <a:bodyPr wrap="square">
            <a:spAutoFit/>
          </a:bodyPr>
          <a:lstStyle/>
          <a:p>
            <a:pPr algn="l"/>
            <a:r>
              <a:rPr sz="900" b="0" i="0">
                <a:solidFill>
                  <a:srgbClr val="475569"/>
                </a:solidFill>
              </a:rPr>
              <a:t>Autonomous robotic platform for closed-loop electrochromic polymer synthesis, characterisation, and ML-driven design iteration.</a:t>
            </a:r>
          </a:p>
        </p:txBody>
      </p:sp>
      <p:sp>
        <p:nvSpPr>
          <p:cNvPr id="22" name="Rectangle 21"/>
          <p:cNvSpPr/>
          <p:nvPr/>
        </p:nvSpPr>
        <p:spPr>
          <a:xfrm>
            <a:off x="2743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743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79" y="4800600"/>
            <a:ext cx="3886200" cy="384048"/>
          </a:xfrm>
          <a:prstGeom prst="rect">
            <a:avLst/>
          </a:prstGeom>
          <a:noFill/>
        </p:spPr>
        <p:txBody>
          <a:bodyPr wrap="square">
            <a:spAutoFit/>
          </a:bodyPr>
          <a:lstStyle/>
          <a:p>
            <a:pPr algn="l"/>
            <a:r>
              <a:rPr sz="1100" b="1" i="0">
                <a:solidFill>
                  <a:srgbClr val="0A1628"/>
                </a:solidFill>
              </a:rPr>
              <a:t>Polymer Genome</a:t>
            </a:r>
          </a:p>
        </p:txBody>
      </p:sp>
      <p:sp>
        <p:nvSpPr>
          <p:cNvPr id="25" name="TextBox 24"/>
          <p:cNvSpPr txBox="1"/>
          <p:nvPr/>
        </p:nvSpPr>
        <p:spPr>
          <a:xfrm>
            <a:off x="411479" y="5166359"/>
            <a:ext cx="3886200" cy="1005840"/>
          </a:xfrm>
          <a:prstGeom prst="rect">
            <a:avLst/>
          </a:prstGeom>
          <a:noFill/>
        </p:spPr>
        <p:txBody>
          <a:bodyPr wrap="square">
            <a:spAutoFit/>
          </a:bodyPr>
          <a:lstStyle/>
          <a:p>
            <a:pPr algn="l"/>
            <a:r>
              <a:rPr sz="900" b="0" i="0">
                <a:solidFill>
                  <a:srgbClr val="475569"/>
                </a:solidFill>
              </a:rPr>
              <a:t>Web-based informatics platform for data-driven polymer property prediction and materials screening.</a:t>
            </a:r>
          </a:p>
        </p:txBody>
      </p:sp>
      <p:sp>
        <p:nvSpPr>
          <p:cNvPr id="26" name="Rectangle 25"/>
          <p:cNvSpPr/>
          <p:nvPr/>
        </p:nvSpPr>
        <p:spPr>
          <a:xfrm>
            <a:off x="4617720" y="4663440"/>
            <a:ext cx="4160520" cy="164592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4663440"/>
            <a:ext cx="4160520" cy="7315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54880" y="4800600"/>
            <a:ext cx="3886200" cy="384048"/>
          </a:xfrm>
          <a:prstGeom prst="rect">
            <a:avLst/>
          </a:prstGeom>
          <a:noFill/>
        </p:spPr>
        <p:txBody>
          <a:bodyPr wrap="square">
            <a:spAutoFit/>
          </a:bodyPr>
          <a:lstStyle/>
          <a:p>
            <a:pPr algn="l"/>
            <a:r>
              <a:rPr sz="1100" b="1" i="0">
                <a:solidFill>
                  <a:srgbClr val="0A1628"/>
                </a:solidFill>
              </a:rPr>
              <a:t>Multi-Agent Polymer Informatics</a:t>
            </a:r>
          </a:p>
        </p:txBody>
      </p:sp>
      <p:sp>
        <p:nvSpPr>
          <p:cNvPr id="29" name="TextBox 28"/>
          <p:cNvSpPr txBox="1"/>
          <p:nvPr/>
        </p:nvSpPr>
        <p:spPr>
          <a:xfrm>
            <a:off x="4754880" y="5166359"/>
            <a:ext cx="3886200" cy="1005840"/>
          </a:xfrm>
          <a:prstGeom prst="rect">
            <a:avLst/>
          </a:prstGeom>
          <a:noFill/>
        </p:spPr>
        <p:txBody>
          <a:bodyPr wrap="square">
            <a:spAutoFit/>
          </a:bodyPr>
          <a:lstStyle/>
          <a:p>
            <a:pPr algn="l"/>
            <a:r>
              <a:rPr sz="900" b="0" i="0">
                <a:solidFill>
                  <a:srgbClr val="475569"/>
                </a:solidFill>
              </a:rPr>
              <a:t>Autonomous multi-agent AI system orchestrating the full pipeline from literature mining to generative design and retrosynthesis (arXiv 2602.00103).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0A1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54864"/>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57200"/>
            <a:ext cx="8229600" cy="731520"/>
          </a:xfrm>
          <a:prstGeom prst="rect">
            <a:avLst/>
          </a:prstGeom>
          <a:noFill/>
        </p:spPr>
        <p:txBody>
          <a:bodyPr wrap="square">
            <a:spAutoFit/>
          </a:bodyPr>
          <a:lstStyle/>
          <a:p>
            <a:pPr algn="ctr"/>
            <a:r>
              <a:rPr sz="2600" b="1" i="0">
                <a:solidFill>
                  <a:srgbClr val="FFFFFF"/>
                </a:solidFill>
              </a:rPr>
              <a:t>Outlook &amp; Trends</a:t>
            </a:r>
          </a:p>
        </p:txBody>
      </p:sp>
      <p:sp>
        <p:nvSpPr>
          <p:cNvPr id="5" name="TextBox 4"/>
          <p:cNvSpPr txBox="1"/>
          <p:nvPr/>
        </p:nvSpPr>
        <p:spPr>
          <a:xfrm>
            <a:off x="640080" y="1325880"/>
            <a:ext cx="7863840" cy="2011680"/>
          </a:xfrm>
          <a:prstGeom prst="rect">
            <a:avLst/>
          </a:prstGeom>
          <a:noFill/>
        </p:spPr>
        <p:txBody>
          <a:bodyPr wrap="square">
            <a:spAutoFit/>
          </a:bodyPr>
          <a:lstStyle/>
          <a:p>
            <a:pPr algn="ctr"/>
            <a:r>
              <a:rPr sz="1200" b="0" i="0">
                <a:solidFill>
                  <a:srgbClr val="94A3B8"/>
                </a:solidFill>
              </a:rPr>
              <a:t>The convergence of large-scale open datasets, multimodal LLMs, and physically validated generative models signals that polymer AI is entering a phase of rapid industrial deployment rather than laboratory curiosity. Within the next 12 months we expect to see the first commercial polymer products — likely in dielectrics, electrochromics, or biodegradable packaging — that are explicitly attributed to AI-driven inverse design rather than conventional trial-and-error. Self-driving laboratories will…</a:t>
            </a:r>
          </a:p>
        </p:txBody>
      </p:sp>
      <p:sp>
        <p:nvSpPr>
          <p:cNvPr id="6" name="Rectangle 5"/>
          <p:cNvSpPr/>
          <p:nvPr/>
        </p:nvSpPr>
        <p:spPr>
          <a:xfrm>
            <a:off x="0" y="3474720"/>
            <a:ext cx="9144000" cy="2743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8229600" cy="411480"/>
          </a:xfrm>
          <a:prstGeom prst="rect">
            <a:avLst/>
          </a:prstGeom>
          <a:noFill/>
        </p:spPr>
        <p:txBody>
          <a:bodyPr wrap="square">
            <a:spAutoFit/>
          </a:bodyPr>
          <a:lstStyle/>
          <a:p>
            <a:pPr algn="l"/>
            <a:r>
              <a:rPr sz="1300" b="1" i="0">
                <a:solidFill>
                  <a:srgbClr val="22D3EE"/>
                </a:solidFill>
              </a:rPr>
              <a:t>Key Trends</a:t>
            </a:r>
          </a:p>
        </p:txBody>
      </p:sp>
      <p:sp>
        <p:nvSpPr>
          <p:cNvPr id="8" name="Rectangle 7"/>
          <p:cNvSpPr/>
          <p:nvPr/>
        </p:nvSpPr>
        <p:spPr>
          <a:xfrm>
            <a:off x="457200" y="4178808"/>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069080"/>
            <a:ext cx="7772400" cy="384048"/>
          </a:xfrm>
          <a:prstGeom prst="rect">
            <a:avLst/>
          </a:prstGeom>
          <a:noFill/>
        </p:spPr>
        <p:txBody>
          <a:bodyPr wrap="square">
            <a:spAutoFit/>
          </a:bodyPr>
          <a:lstStyle/>
          <a:p>
            <a:pPr algn="l"/>
            <a:r>
              <a:rPr sz="1100" b="0" i="0">
                <a:solidFill>
                  <a:srgbClr val="FFFFFF"/>
                </a:solidFill>
              </a:rPr>
              <a:t>Inverse design is going experimental: AI-generated polymers are now synthesised and lab-validated, not just simulated</a:t>
            </a:r>
          </a:p>
        </p:txBody>
      </p:sp>
      <p:sp>
        <p:nvSpPr>
          <p:cNvPr id="10" name="Rectangle 9"/>
          <p:cNvSpPr/>
          <p:nvPr/>
        </p:nvSpPr>
        <p:spPr>
          <a:xfrm>
            <a:off x="457200" y="4581144"/>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4471416"/>
            <a:ext cx="7772400" cy="384048"/>
          </a:xfrm>
          <a:prstGeom prst="rect">
            <a:avLst/>
          </a:prstGeom>
          <a:noFill/>
        </p:spPr>
        <p:txBody>
          <a:bodyPr wrap="square">
            <a:spAutoFit/>
          </a:bodyPr>
          <a:lstStyle/>
          <a:p>
            <a:pPr algn="l"/>
            <a:r>
              <a:rPr sz="1100" b="0" i="0">
                <a:solidFill>
                  <a:srgbClr val="FFFFFF"/>
                </a:solidFill>
              </a:rPr>
              <a:t>Multimodal LLMs (text + 3D structure) outperform specialist GNNs with far less labelled data, democratising polymer ML</a:t>
            </a:r>
          </a:p>
        </p:txBody>
      </p:sp>
      <p:sp>
        <p:nvSpPr>
          <p:cNvPr id="12" name="Rectangle 11"/>
          <p:cNvSpPr/>
          <p:nvPr/>
        </p:nvSpPr>
        <p:spPr>
          <a:xfrm>
            <a:off x="457200" y="4983480"/>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873752"/>
            <a:ext cx="7772400" cy="384048"/>
          </a:xfrm>
          <a:prstGeom prst="rect">
            <a:avLst/>
          </a:prstGeom>
          <a:noFill/>
        </p:spPr>
        <p:txBody>
          <a:bodyPr wrap="square">
            <a:spAutoFit/>
          </a:bodyPr>
          <a:lstStyle/>
          <a:p>
            <a:pPr algn="l"/>
            <a:r>
              <a:rPr sz="1100" b="0" i="0">
                <a:solidFill>
                  <a:srgbClr val="FFFFFF"/>
                </a:solidFill>
              </a:rPr>
              <a:t>Self-driving polymer laboratories are scaling from proof-of-concept to production platforms at national labs</a:t>
            </a:r>
          </a:p>
        </p:txBody>
      </p:sp>
      <p:sp>
        <p:nvSpPr>
          <p:cNvPr id="14" name="Rectangle 13"/>
          <p:cNvSpPr/>
          <p:nvPr/>
        </p:nvSpPr>
        <p:spPr>
          <a:xfrm>
            <a:off x="457200" y="5385816"/>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5276088"/>
            <a:ext cx="7772400" cy="384048"/>
          </a:xfrm>
          <a:prstGeom prst="rect">
            <a:avLst/>
          </a:prstGeom>
          <a:noFill/>
        </p:spPr>
        <p:txBody>
          <a:bodyPr wrap="square">
            <a:spAutoFit/>
          </a:bodyPr>
          <a:lstStyle/>
          <a:p>
            <a:pPr algn="l"/>
            <a:r>
              <a:rPr sz="1100" b="0" i="0">
                <a:solidFill>
                  <a:srgbClr val="FFFFFF"/>
                </a:solidFill>
              </a:rPr>
              <a:t>Open large-scale datasets (OPoly26) are consolidating community benchmarking and reducing duplicated DFT effort</a:t>
            </a:r>
          </a:p>
        </p:txBody>
      </p:sp>
      <p:sp>
        <p:nvSpPr>
          <p:cNvPr id="16" name="Rectangle 15"/>
          <p:cNvSpPr/>
          <p:nvPr/>
        </p:nvSpPr>
        <p:spPr>
          <a:xfrm>
            <a:off x="457200" y="5788152"/>
            <a:ext cx="137160" cy="13716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678424"/>
            <a:ext cx="7772400" cy="384048"/>
          </a:xfrm>
          <a:prstGeom prst="rect">
            <a:avLst/>
          </a:prstGeom>
          <a:noFill/>
        </p:spPr>
        <p:txBody>
          <a:bodyPr wrap="square">
            <a:spAutoFit/>
          </a:bodyPr>
          <a:lstStyle/>
          <a:p>
            <a:pPr algn="l"/>
            <a:r>
              <a:rPr sz="1100" b="0" i="0">
                <a:solidFill>
                  <a:srgbClr val="FFFFFF"/>
                </a:solidFill>
              </a:rPr>
              <a:t>AI-driven sorting and pyrolysis optimisation are making plastic circular-economy targets economically achievable by 2030</a:t>
            </a:r>
          </a:p>
        </p:txBody>
      </p:sp>
      <p:sp>
        <p:nvSpPr>
          <p:cNvPr id="18" name="TextBox 17"/>
          <p:cNvSpPr txBox="1"/>
          <p:nvPr/>
        </p:nvSpPr>
        <p:spPr>
          <a:xfrm>
            <a:off x="0" y="6492240"/>
            <a:ext cx="9144000" cy="274320"/>
          </a:xfrm>
          <a:prstGeom prst="rect">
            <a:avLst/>
          </a:prstGeom>
          <a:noFill/>
        </p:spPr>
        <p:txBody>
          <a:bodyPr wrap="square">
            <a:spAutoFit/>
          </a:bodyPr>
          <a:lstStyle/>
          <a:p>
            <a:pPr algn="ctr"/>
            <a:r>
              <a:rPr sz="800" b="0" i="0">
                <a:solidFill>
                  <a:srgbClr val="64748B"/>
                </a:solidFill>
              </a:rPr>
              <a:t>Generated by Polymer AI Research Agent  ·  2026-06-08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