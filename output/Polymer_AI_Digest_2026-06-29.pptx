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771900"/>
            <a:ext cx="9144000" cy="36576"/>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8229600" cy="1005840"/>
          </a:xfrm>
          <a:prstGeom prst="rect">
            <a:avLst/>
          </a:prstGeom>
          <a:noFill/>
        </p:spPr>
        <p:txBody>
          <a:bodyPr wrap="square">
            <a:spAutoFit/>
          </a:bodyPr>
          <a:lstStyle/>
          <a:p>
            <a:pPr algn="ctr"/>
            <a:r>
              <a:rPr sz="3400" b="1" i="0">
                <a:solidFill>
                  <a:srgbClr val="FFFFFF"/>
                </a:solidFill>
              </a:rPr>
              <a:t>AI Tools for Polymer Materials</a:t>
            </a:r>
          </a:p>
        </p:txBody>
      </p:sp>
      <p:sp>
        <p:nvSpPr>
          <p:cNvPr id="6" name="TextBox 5"/>
          <p:cNvSpPr txBox="1"/>
          <p:nvPr/>
        </p:nvSpPr>
        <p:spPr>
          <a:xfrm>
            <a:off x="457200" y="2377440"/>
            <a:ext cx="8229600" cy="548640"/>
          </a:xfrm>
          <a:prstGeom prst="rect">
            <a:avLst/>
          </a:prstGeom>
          <a:noFill/>
        </p:spPr>
        <p:txBody>
          <a:bodyPr wrap="square">
            <a:spAutoFit/>
          </a:bodyPr>
          <a:lstStyle/>
          <a:p>
            <a:pPr algn="ctr"/>
            <a:r>
              <a:rPr sz="1800" b="0" i="0">
                <a:solidFill>
                  <a:srgbClr val="22D3EE"/>
                </a:solidFill>
              </a:rPr>
              <a:t>Daily Research Digest</a:t>
            </a:r>
          </a:p>
        </p:txBody>
      </p:sp>
      <p:sp>
        <p:nvSpPr>
          <p:cNvPr id="7" name="TextBox 6"/>
          <p:cNvSpPr txBox="1"/>
          <p:nvPr/>
        </p:nvSpPr>
        <p:spPr>
          <a:xfrm>
            <a:off x="457200" y="2926080"/>
            <a:ext cx="8229600" cy="411480"/>
          </a:xfrm>
          <a:prstGeom prst="rect">
            <a:avLst/>
          </a:prstGeom>
          <a:noFill/>
        </p:spPr>
        <p:txBody>
          <a:bodyPr wrap="square">
            <a:spAutoFit/>
          </a:bodyPr>
          <a:lstStyle/>
          <a:p>
            <a:pPr algn="ctr"/>
            <a:r>
              <a:rPr sz="1300" b="0" i="0">
                <a:solidFill>
                  <a:srgbClr val="64748B"/>
                </a:solidFill>
              </a:rPr>
              <a:t>2026-06-29</a:t>
            </a:r>
          </a:p>
        </p:txBody>
      </p:sp>
      <p:sp>
        <p:nvSpPr>
          <p:cNvPr id="8" name="TextBox 7"/>
          <p:cNvSpPr txBox="1"/>
          <p:nvPr/>
        </p:nvSpPr>
        <p:spPr>
          <a:xfrm>
            <a:off x="822960" y="3749039"/>
            <a:ext cx="7498079" cy="822960"/>
          </a:xfrm>
          <a:prstGeom prst="rect">
            <a:avLst/>
          </a:prstGeom>
          <a:noFill/>
        </p:spPr>
        <p:txBody>
          <a:bodyPr wrap="square">
            <a:spAutoFit/>
          </a:bodyPr>
          <a:lstStyle/>
          <a:p>
            <a:pPr algn="ctr"/>
            <a:r>
              <a:rPr sz="1300" b="1" i="1">
                <a:solidFill>
                  <a:srgbClr val="94A3B8"/>
                </a:solidFill>
              </a:rPr>
              <a:t>"From lab-validated generative design to LLM polymer agents and AI-powered recycling, AI is now end-to-end across the full polymer lifecycle in mid-2026."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Executive Summary</a:t>
            </a:r>
          </a:p>
        </p:txBody>
      </p:sp>
      <p:sp>
        <p:nvSpPr>
          <p:cNvPr id="6" name="TextBox 5"/>
          <p:cNvSpPr txBox="1"/>
          <p:nvPr/>
        </p:nvSpPr>
        <p:spPr>
          <a:xfrm>
            <a:off x="457200" y="1051560"/>
            <a:ext cx="8229600" cy="4206240"/>
          </a:xfrm>
          <a:prstGeom prst="rect">
            <a:avLst/>
          </a:prstGeom>
          <a:noFill/>
        </p:spPr>
        <p:txBody>
          <a:bodyPr wrap="square">
            <a:spAutoFit/>
          </a:bodyPr>
          <a:lstStyle/>
          <a:p>
            <a:pPr algn="l"/>
            <a:r>
              <a:rPr sz="1200" b="0" i="0">
                <a:solidFill>
                  <a:srgbClr val="1E293B"/>
                </a:solidFill>
              </a:rPr>
              <a:t>The final week of June 2026 consolidates a landmark first half of the year for AI in polymer materials science. Generative foundation models are no longer experimental: POLYT5 from Georgia Tech produced a novel dielectric polymer that was physically synthesized and confirmed to perform as predicted — a milestone representing the first end-to-end experimental validation of a generative polymer AI. Simultaneously, autonomous inverse-design workflows coupled with robotic experimentation narrowed more than 1000 candidate compositions to near-target recipes in under 72 hours, compressing what was once a multi-year process into days. IBM and Samsung filed major patents in 2025-2026 covering…</a:t>
            </a:r>
          </a:p>
        </p:txBody>
      </p:sp>
      <p:sp>
        <p:nvSpPr>
          <p:cNvPr id="7" name="Rectangle 6"/>
          <p:cNvSpPr/>
          <p:nvPr/>
        </p:nvSpPr>
        <p:spPr>
          <a:xfrm>
            <a:off x="365760"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5550408"/>
            <a:ext cx="1874520" cy="347472"/>
          </a:xfrm>
          <a:prstGeom prst="rect">
            <a:avLst/>
          </a:prstGeom>
          <a:noFill/>
        </p:spPr>
        <p:txBody>
          <a:bodyPr wrap="square">
            <a:spAutoFit/>
          </a:bodyPr>
          <a:lstStyle/>
          <a:p>
            <a:pPr algn="l"/>
            <a:r>
              <a:rPr sz="800" b="0" i="0">
                <a:solidFill>
                  <a:srgbClr val="FFFFFF"/>
                </a:solidFill>
              </a:rPr>
              <a:t>Lab-validated generative AI: inverse-d…</a:t>
            </a:r>
          </a:p>
        </p:txBody>
      </p:sp>
      <p:sp>
        <p:nvSpPr>
          <p:cNvPr id="9" name="Rectangle 8"/>
          <p:cNvSpPr/>
          <p:nvPr/>
        </p:nvSpPr>
        <p:spPr>
          <a:xfrm>
            <a:off x="2532888"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24328" y="5550408"/>
            <a:ext cx="1874520" cy="347472"/>
          </a:xfrm>
          <a:prstGeom prst="rect">
            <a:avLst/>
          </a:prstGeom>
          <a:noFill/>
        </p:spPr>
        <p:txBody>
          <a:bodyPr wrap="square">
            <a:spAutoFit/>
          </a:bodyPr>
          <a:lstStyle/>
          <a:p>
            <a:pPr algn="l"/>
            <a:r>
              <a:rPr sz="800" b="0" i="0">
                <a:solidFill>
                  <a:srgbClr val="FFFFFF"/>
                </a:solidFill>
              </a:rPr>
              <a:t>LLM agents democratizing polymer desig…</a:t>
            </a:r>
          </a:p>
        </p:txBody>
      </p:sp>
      <p:sp>
        <p:nvSpPr>
          <p:cNvPr id="11" name="Rectangle 10"/>
          <p:cNvSpPr/>
          <p:nvPr/>
        </p:nvSpPr>
        <p:spPr>
          <a:xfrm>
            <a:off x="4700016"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91456" y="5550408"/>
            <a:ext cx="1874520" cy="347472"/>
          </a:xfrm>
          <a:prstGeom prst="rect">
            <a:avLst/>
          </a:prstGeom>
          <a:noFill/>
        </p:spPr>
        <p:txBody>
          <a:bodyPr wrap="square">
            <a:spAutoFit/>
          </a:bodyPr>
          <a:lstStyle/>
          <a:p>
            <a:pPr algn="l"/>
            <a:r>
              <a:rPr sz="800" b="0" i="0">
                <a:solidFill>
                  <a:srgbClr val="FFFFFF"/>
                </a:solidFill>
              </a:rPr>
              <a:t>OPoly26 and OpenPoly mega-datasets ena…</a:t>
            </a:r>
          </a:p>
        </p:txBody>
      </p:sp>
      <p:sp>
        <p:nvSpPr>
          <p:cNvPr id="13" name="Rectangle 12"/>
          <p:cNvSpPr/>
          <p:nvPr/>
        </p:nvSpPr>
        <p:spPr>
          <a:xfrm>
            <a:off x="6867144"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58584" y="5550408"/>
            <a:ext cx="1874520" cy="347472"/>
          </a:xfrm>
          <a:prstGeom prst="rect">
            <a:avLst/>
          </a:prstGeom>
          <a:noFill/>
        </p:spPr>
        <p:txBody>
          <a:bodyPr wrap="square">
            <a:spAutoFit/>
          </a:bodyPr>
          <a:lstStyle/>
          <a:p>
            <a:pPr algn="l"/>
            <a:r>
              <a:rPr sz="800" b="0" i="0">
                <a:solidFill>
                  <a:srgbClr val="FFFFFF"/>
                </a:solidFill>
              </a:rPr>
              <a:t>AI closing the recycling loop: spectro…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POLYT5 Foundation Model Achieves First Lab-Validated Generative Polymer Design</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Generative Design  ·  Impact: HIGH</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Georgia Tech researchers released POLYT5, an encoder-decoder foundation chemical language model trained on experimentally verified polymers that accepts user-specified property targets and outputs novel polymer structures. The model produced a new…</a:t>
            </a:r>
          </a:p>
        </p:txBody>
      </p:sp>
      <p:sp>
        <p:nvSpPr>
          <p:cNvPr id="11" name="Rectangle 10"/>
          <p:cNvSpPr/>
          <p:nvPr/>
        </p:nvSpPr>
        <p:spPr>
          <a:xfrm>
            <a:off x="274320" y="28346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8346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926080"/>
            <a:ext cx="7315200" cy="384048"/>
          </a:xfrm>
          <a:prstGeom prst="rect">
            <a:avLst/>
          </a:prstGeom>
          <a:noFill/>
        </p:spPr>
        <p:txBody>
          <a:bodyPr wrap="square">
            <a:spAutoFit/>
          </a:bodyPr>
          <a:lstStyle/>
          <a:p>
            <a:pPr algn="l"/>
            <a:r>
              <a:rPr sz="1100" b="1" i="0">
                <a:solidFill>
                  <a:srgbClr val="0A1628"/>
                </a:solidFill>
              </a:rPr>
              <a:t>Autonomous 72-Hour Inverse Design Narrows 1000+ Compositions to Target</a:t>
            </a:r>
          </a:p>
        </p:txBody>
      </p:sp>
      <p:sp>
        <p:nvSpPr>
          <p:cNvPr id="14" name="TextBox 13"/>
          <p:cNvSpPr txBox="1"/>
          <p:nvPr/>
        </p:nvSpPr>
        <p:spPr>
          <a:xfrm>
            <a:off x="502920" y="3273552"/>
            <a:ext cx="7315200" cy="274320"/>
          </a:xfrm>
          <a:prstGeom prst="rect">
            <a:avLst/>
          </a:prstGeom>
          <a:noFill/>
        </p:spPr>
        <p:txBody>
          <a:bodyPr wrap="square">
            <a:spAutoFit/>
          </a:bodyPr>
          <a:lstStyle/>
          <a:p>
            <a:pPr algn="l"/>
            <a:r>
              <a:rPr sz="800" b="0" i="1">
                <a:solidFill>
                  <a:srgbClr val="64748B"/>
                </a:solidFill>
              </a:rPr>
              <a:t>Generative Design  ·  Impact: HIGH</a:t>
            </a:r>
          </a:p>
        </p:txBody>
      </p:sp>
      <p:sp>
        <p:nvSpPr>
          <p:cNvPr id="15" name="TextBox 14"/>
          <p:cNvSpPr txBox="1"/>
          <p:nvPr/>
        </p:nvSpPr>
        <p:spPr>
          <a:xfrm>
            <a:off x="502920" y="3529584"/>
            <a:ext cx="7955279" cy="822960"/>
          </a:xfrm>
          <a:prstGeom prst="rect">
            <a:avLst/>
          </a:prstGeom>
          <a:noFill/>
        </p:spPr>
        <p:txBody>
          <a:bodyPr wrap="square">
            <a:spAutoFit/>
          </a:bodyPr>
          <a:lstStyle/>
          <a:p>
            <a:pPr algn="l"/>
            <a:r>
              <a:rPr sz="900" b="0" i="0">
                <a:solidFill>
                  <a:srgbClr val="475569"/>
                </a:solidFill>
              </a:rPr>
              <a:t>An autonomous inverse-design workflow integrating AI-driven literature mining, machine learning surrogates, and robotic experimentation completed a full design cycle in under 72 hours — starting from more than a thousand candidate compositions and…</a:t>
            </a:r>
          </a:p>
        </p:txBody>
      </p:sp>
      <p:sp>
        <p:nvSpPr>
          <p:cNvPr id="16" name="Rectangle 15"/>
          <p:cNvSpPr/>
          <p:nvPr/>
        </p:nvSpPr>
        <p:spPr>
          <a:xfrm>
            <a:off x="274320" y="46634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46634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754879"/>
            <a:ext cx="7315200" cy="384048"/>
          </a:xfrm>
          <a:prstGeom prst="rect">
            <a:avLst/>
          </a:prstGeom>
          <a:noFill/>
        </p:spPr>
        <p:txBody>
          <a:bodyPr wrap="square">
            <a:spAutoFit/>
          </a:bodyPr>
          <a:lstStyle/>
          <a:p>
            <a:pPr algn="l"/>
            <a:r>
              <a:rPr sz="1100" b="1" i="0">
                <a:solidFill>
                  <a:srgbClr val="0A1628"/>
                </a:solidFill>
              </a:rPr>
              <a:t>OPoly26 Dataset: 6.35 Million DFT Calculations Redefine Polymer ML Benchmarking</a:t>
            </a:r>
          </a:p>
        </p:txBody>
      </p:sp>
      <p:sp>
        <p:nvSpPr>
          <p:cNvPr id="19" name="TextBox 18"/>
          <p:cNvSpPr txBox="1"/>
          <p:nvPr/>
        </p:nvSpPr>
        <p:spPr>
          <a:xfrm>
            <a:off x="502920" y="5102352"/>
            <a:ext cx="7315200" cy="274320"/>
          </a:xfrm>
          <a:prstGeom prst="rect">
            <a:avLst/>
          </a:prstGeom>
          <a:noFill/>
        </p:spPr>
        <p:txBody>
          <a:bodyPr wrap="square">
            <a:spAutoFit/>
          </a:bodyPr>
          <a:lstStyle/>
          <a:p>
            <a:pPr algn="l"/>
            <a:r>
              <a:rPr sz="800" b="0" i="1">
                <a:solidFill>
                  <a:srgbClr val="64748B"/>
                </a:solidFill>
              </a:rPr>
              <a:t>Property Prediction  ·  Impact: HIGH</a:t>
            </a:r>
          </a:p>
        </p:txBody>
      </p:sp>
      <p:sp>
        <p:nvSpPr>
          <p:cNvPr id="20" name="TextBox 19"/>
          <p:cNvSpPr txBox="1"/>
          <p:nvPr/>
        </p:nvSpPr>
        <p:spPr>
          <a:xfrm>
            <a:off x="502920" y="5358383"/>
            <a:ext cx="7955279" cy="822960"/>
          </a:xfrm>
          <a:prstGeom prst="rect">
            <a:avLst/>
          </a:prstGeom>
          <a:noFill/>
        </p:spPr>
        <p:txBody>
          <a:bodyPr wrap="square">
            <a:spAutoFit/>
          </a:bodyPr>
          <a:lstStyle/>
          <a:p>
            <a:pPr algn="l"/>
            <a:r>
              <a:rPr sz="900" b="0" i="0">
                <a:solidFill>
                  <a:srgbClr val="475569"/>
                </a:solidFill>
              </a:rPr>
              <a:t>The Open Polymers 2026 (OPoly26) dataset provides more than 6.35 million DFT calculations on polymeric clusters of up to 360 atoms, covering over 1.2 billion total atoms across diverse monomer compositions, chain architectures, and solvation…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 (continued)</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Hybrid ML Frameworks Predict Polymer Solubility Across Concentrations and Temperatures</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Property Prediction  ·  Impact: MEDIUM</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New hybrid machine learning frameworks combining polymer composition and sequence features predict solubility across wide ranges of concentrations and temperatures with production-ready accuracy, addressing a longstanding formulation challenge in…</a:t>
            </a:r>
          </a:p>
        </p:txBody>
      </p:sp>
      <p:sp>
        <p:nvSpPr>
          <p:cNvPr id="11" name="Rectangle 10"/>
          <p:cNvSpPr/>
          <p:nvPr/>
        </p:nvSpPr>
        <p:spPr>
          <a:xfrm>
            <a:off x="274320" y="28346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8346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926080"/>
            <a:ext cx="7315200" cy="384048"/>
          </a:xfrm>
          <a:prstGeom prst="rect">
            <a:avLst/>
          </a:prstGeom>
          <a:noFill/>
        </p:spPr>
        <p:txBody>
          <a:bodyPr wrap="square">
            <a:spAutoFit/>
          </a:bodyPr>
          <a:lstStyle/>
          <a:p>
            <a:pPr algn="l"/>
            <a:r>
              <a:rPr sz="1100" b="1" i="0">
                <a:solidFill>
                  <a:srgbClr val="0A1628"/>
                </a:solidFill>
              </a:rPr>
              <a:t>Polymer-Agent: LLM Agent for End-to-End Polymer Design Goes Live in JCIM</a:t>
            </a:r>
          </a:p>
        </p:txBody>
      </p:sp>
      <p:sp>
        <p:nvSpPr>
          <p:cNvPr id="14" name="TextBox 13"/>
          <p:cNvSpPr txBox="1"/>
          <p:nvPr/>
        </p:nvSpPr>
        <p:spPr>
          <a:xfrm>
            <a:off x="502920" y="3273552"/>
            <a:ext cx="7315200" cy="274320"/>
          </a:xfrm>
          <a:prstGeom prst="rect">
            <a:avLst/>
          </a:prstGeom>
          <a:noFill/>
        </p:spPr>
        <p:txBody>
          <a:bodyPr wrap="square">
            <a:spAutoFit/>
          </a:bodyPr>
          <a:lstStyle/>
          <a:p>
            <a:pPr algn="l"/>
            <a:r>
              <a:rPr sz="800" b="0" i="1">
                <a:solidFill>
                  <a:srgbClr val="64748B"/>
                </a:solidFill>
              </a:rPr>
              <a:t>LLMs  ·  Impact: HIGH</a:t>
            </a:r>
          </a:p>
        </p:txBody>
      </p:sp>
      <p:sp>
        <p:nvSpPr>
          <p:cNvPr id="15" name="TextBox 14"/>
          <p:cNvSpPr txBox="1"/>
          <p:nvPr/>
        </p:nvSpPr>
        <p:spPr>
          <a:xfrm>
            <a:off x="502920" y="3529584"/>
            <a:ext cx="7955279" cy="822960"/>
          </a:xfrm>
          <a:prstGeom prst="rect">
            <a:avLst/>
          </a:prstGeom>
          <a:noFill/>
        </p:spPr>
        <p:txBody>
          <a:bodyPr wrap="square">
            <a:spAutoFit/>
          </a:bodyPr>
          <a:lstStyle/>
          <a:p>
            <a:pPr algn="l"/>
            <a:r>
              <a:rPr sz="900" b="0" i="0">
                <a:solidFill>
                  <a:srgbClr val="475569"/>
                </a:solidFill>
              </a:rPr>
              <a:t>Polymer-Agent, published in the Journal of Chemical Information and Modeling in 2026, provides property prediction, property-guided polymer structure generation, and structure modification through a conversational natural-language interface powered…</a:t>
            </a:r>
          </a:p>
        </p:txBody>
      </p:sp>
      <p:sp>
        <p:nvSpPr>
          <p:cNvPr id="16" name="Rectangle 15"/>
          <p:cNvSpPr/>
          <p:nvPr/>
        </p:nvSpPr>
        <p:spPr>
          <a:xfrm>
            <a:off x="274320" y="46634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46634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754879"/>
            <a:ext cx="7315200" cy="384048"/>
          </a:xfrm>
          <a:prstGeom prst="rect">
            <a:avLst/>
          </a:prstGeom>
          <a:noFill/>
        </p:spPr>
        <p:txBody>
          <a:bodyPr wrap="square">
            <a:spAutoFit/>
          </a:bodyPr>
          <a:lstStyle/>
          <a:p>
            <a:pPr algn="l"/>
            <a:r>
              <a:rPr sz="1100" b="1" i="0">
                <a:solidFill>
                  <a:srgbClr val="0A1628"/>
                </a:solidFill>
              </a:rPr>
              <a:t>polyRETRO and PolySea Extend LLMs to Retrosynthesis and Sequence Optimization</a:t>
            </a:r>
          </a:p>
        </p:txBody>
      </p:sp>
      <p:sp>
        <p:nvSpPr>
          <p:cNvPr id="19" name="TextBox 18"/>
          <p:cNvSpPr txBox="1"/>
          <p:nvPr/>
        </p:nvSpPr>
        <p:spPr>
          <a:xfrm>
            <a:off x="502920" y="5102352"/>
            <a:ext cx="7315200" cy="274320"/>
          </a:xfrm>
          <a:prstGeom prst="rect">
            <a:avLst/>
          </a:prstGeom>
          <a:noFill/>
        </p:spPr>
        <p:txBody>
          <a:bodyPr wrap="square">
            <a:spAutoFit/>
          </a:bodyPr>
          <a:lstStyle/>
          <a:p>
            <a:pPr algn="l"/>
            <a:r>
              <a:rPr sz="800" b="0" i="1">
                <a:solidFill>
                  <a:srgbClr val="64748B"/>
                </a:solidFill>
              </a:rPr>
              <a:t>LLMs  ·  Impact: MEDIUM</a:t>
            </a:r>
          </a:p>
        </p:txBody>
      </p:sp>
      <p:sp>
        <p:nvSpPr>
          <p:cNvPr id="20" name="TextBox 19"/>
          <p:cNvSpPr txBox="1"/>
          <p:nvPr/>
        </p:nvSpPr>
        <p:spPr>
          <a:xfrm>
            <a:off x="502920" y="5358383"/>
            <a:ext cx="7955279" cy="822960"/>
          </a:xfrm>
          <a:prstGeom prst="rect">
            <a:avLst/>
          </a:prstGeom>
          <a:noFill/>
        </p:spPr>
        <p:txBody>
          <a:bodyPr wrap="square">
            <a:spAutoFit/>
          </a:bodyPr>
          <a:lstStyle/>
          <a:p>
            <a:pPr algn="l"/>
            <a:r>
              <a:rPr sz="900" b="0" i="0">
                <a:solidFill>
                  <a:srgbClr val="475569"/>
                </a:solidFill>
              </a:rPr>
              <a:t>polyRETRO, an LLM-based model for predicting polymerization class and required monomers for a target polymer, enables retrosynthetic planning at the polymer level — previously impossible with standard chemistry retrosynthesis tools. PolySea (Polymer…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 (continued)</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Deep Learning Achieves 87% FTIR Fingerprint Prediction and Sub-10 µm Microplastic Detection</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Characterization  ·  Impact: MEDIUM</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A 2026 MRS Advances study optimized multilayer perceptron architectures for FTIR fingerprint-region prediction, reaching 87% accuracy for polystyrene, 84% for HDPE, and 81% for PET among six commodity plastics — substantially exceeding prior…</a:t>
            </a:r>
          </a:p>
        </p:txBody>
      </p:sp>
      <p:sp>
        <p:nvSpPr>
          <p:cNvPr id="11" name="Rectangle 10"/>
          <p:cNvSpPr/>
          <p:nvPr/>
        </p:nvSpPr>
        <p:spPr>
          <a:xfrm>
            <a:off x="274320" y="28346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8346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926080"/>
            <a:ext cx="7315200" cy="384048"/>
          </a:xfrm>
          <a:prstGeom prst="rect">
            <a:avLst/>
          </a:prstGeom>
          <a:noFill/>
        </p:spPr>
        <p:txBody>
          <a:bodyPr wrap="square">
            <a:spAutoFit/>
          </a:bodyPr>
          <a:lstStyle/>
          <a:p>
            <a:pPr algn="l"/>
            <a:r>
              <a:rPr sz="1100" b="1" i="0">
                <a:solidFill>
                  <a:srgbClr val="0A1628"/>
                </a:solidFill>
              </a:rPr>
              <a:t>Physics-Informed Neural Networks Cut Cure Times 30% and Defect Rates Below 1%</a:t>
            </a:r>
          </a:p>
        </p:txBody>
      </p:sp>
      <p:sp>
        <p:nvSpPr>
          <p:cNvPr id="14" name="TextBox 13"/>
          <p:cNvSpPr txBox="1"/>
          <p:nvPr/>
        </p:nvSpPr>
        <p:spPr>
          <a:xfrm>
            <a:off x="502920" y="3273552"/>
            <a:ext cx="7315200" cy="274320"/>
          </a:xfrm>
          <a:prstGeom prst="rect">
            <a:avLst/>
          </a:prstGeom>
          <a:noFill/>
        </p:spPr>
        <p:txBody>
          <a:bodyPr wrap="square">
            <a:spAutoFit/>
          </a:bodyPr>
          <a:lstStyle/>
          <a:p>
            <a:pPr algn="l"/>
            <a:r>
              <a:rPr sz="800" b="0" i="1">
                <a:solidFill>
                  <a:srgbClr val="64748B"/>
                </a:solidFill>
              </a:rPr>
              <a:t>Processing  ·  Impact: HIGH</a:t>
            </a:r>
          </a:p>
        </p:txBody>
      </p:sp>
      <p:sp>
        <p:nvSpPr>
          <p:cNvPr id="15" name="TextBox 14"/>
          <p:cNvSpPr txBox="1"/>
          <p:nvPr/>
        </p:nvSpPr>
        <p:spPr>
          <a:xfrm>
            <a:off x="502920" y="3529584"/>
            <a:ext cx="7955279" cy="822960"/>
          </a:xfrm>
          <a:prstGeom prst="rect">
            <a:avLst/>
          </a:prstGeom>
          <a:noFill/>
        </p:spPr>
        <p:txBody>
          <a:bodyPr wrap="square">
            <a:spAutoFit/>
          </a:bodyPr>
          <a:lstStyle/>
          <a:p>
            <a:pPr algn="l"/>
            <a:r>
              <a:rPr sz="900" b="0" i="0">
                <a:solidFill>
                  <a:srgbClr val="475569"/>
                </a:solidFill>
              </a:rPr>
              <a:t>Physics-informed neural networks applied to composite autoclave processing predict optimal heating curves that reduce cure cycle times by up to 30% without sacrificing part quality, as documented in a 2026 MRS Communications review. AI-driven…</a:t>
            </a:r>
          </a:p>
        </p:txBody>
      </p:sp>
      <p:sp>
        <p:nvSpPr>
          <p:cNvPr id="16" name="Rectangle 15"/>
          <p:cNvSpPr/>
          <p:nvPr/>
        </p:nvSpPr>
        <p:spPr>
          <a:xfrm>
            <a:off x="274320" y="46634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46634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754879"/>
            <a:ext cx="7315200" cy="384048"/>
          </a:xfrm>
          <a:prstGeom prst="rect">
            <a:avLst/>
          </a:prstGeom>
          <a:noFill/>
        </p:spPr>
        <p:txBody>
          <a:bodyPr wrap="square">
            <a:spAutoFit/>
          </a:bodyPr>
          <a:lstStyle/>
          <a:p>
            <a:pPr algn="l"/>
            <a:r>
              <a:rPr sz="1100" b="1" i="0">
                <a:solidFill>
                  <a:srgbClr val="0A1628"/>
                </a:solidFill>
              </a:rPr>
              <a:t>AI-Driven Sorting Delivers 60% Efficiency Gains; Pyrolysis Optimization Scales</a:t>
            </a:r>
          </a:p>
        </p:txBody>
      </p:sp>
      <p:sp>
        <p:nvSpPr>
          <p:cNvPr id="19" name="TextBox 18"/>
          <p:cNvSpPr txBox="1"/>
          <p:nvPr/>
        </p:nvSpPr>
        <p:spPr>
          <a:xfrm>
            <a:off x="502920" y="5102352"/>
            <a:ext cx="7315200" cy="274320"/>
          </a:xfrm>
          <a:prstGeom prst="rect">
            <a:avLst/>
          </a:prstGeom>
          <a:noFill/>
        </p:spPr>
        <p:txBody>
          <a:bodyPr wrap="square">
            <a:spAutoFit/>
          </a:bodyPr>
          <a:lstStyle/>
          <a:p>
            <a:pPr algn="l"/>
            <a:r>
              <a:rPr sz="800" b="0" i="1">
                <a:solidFill>
                  <a:srgbClr val="64748B"/>
                </a:solidFill>
              </a:rPr>
              <a:t>Sustainability  ·  Impact: HIGH</a:t>
            </a:r>
          </a:p>
        </p:txBody>
      </p:sp>
      <p:sp>
        <p:nvSpPr>
          <p:cNvPr id="20" name="TextBox 19"/>
          <p:cNvSpPr txBox="1"/>
          <p:nvPr/>
        </p:nvSpPr>
        <p:spPr>
          <a:xfrm>
            <a:off x="502920" y="5358383"/>
            <a:ext cx="7955279" cy="822960"/>
          </a:xfrm>
          <a:prstGeom prst="rect">
            <a:avLst/>
          </a:prstGeom>
          <a:noFill/>
        </p:spPr>
        <p:txBody>
          <a:bodyPr wrap="square">
            <a:spAutoFit/>
          </a:bodyPr>
          <a:lstStyle/>
          <a:p>
            <a:pPr algn="l"/>
            <a:r>
              <a:rPr sz="900" b="0" i="0">
                <a:solidFill>
                  <a:srgbClr val="475569"/>
                </a:solidFill>
              </a:rPr>
              <a:t>Deep-learning sorting systems combining near-infrared, Raman, and hyperspectral imaging are routing plastics to optimal recycling pathways with up to 60% higher throughput than manual sorting, per 2026 industry data from Plastics Today.…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 (continued)</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AI-Guided Discovery of Recyclable Vitrimeric Polymers Advances Circular Thermosets</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Sustainability  ·  Impact: MEDIUM</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AI-guided inverse design workflows are being applied to vitrimer chemistry, enabling discovery of recyclable thermoset polymers with targeted mechanical and thermal performance. By coupling ML property prediction with sustainability constraints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Notable Tools &amp; Resources</a:t>
            </a:r>
          </a:p>
        </p:txBody>
      </p:sp>
      <p:sp>
        <p:nvSpPr>
          <p:cNvPr id="6" name="Rectangle 5"/>
          <p:cNvSpPr/>
          <p:nvPr/>
        </p:nvSpPr>
        <p:spPr>
          <a:xfrm>
            <a:off x="274320" y="10058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79" y="1143000"/>
            <a:ext cx="3886200" cy="384048"/>
          </a:xfrm>
          <a:prstGeom prst="rect">
            <a:avLst/>
          </a:prstGeom>
          <a:noFill/>
        </p:spPr>
        <p:txBody>
          <a:bodyPr wrap="square">
            <a:spAutoFit/>
          </a:bodyPr>
          <a:lstStyle/>
          <a:p>
            <a:pPr algn="l"/>
            <a:r>
              <a:rPr sz="1100" b="1" i="0">
                <a:solidFill>
                  <a:srgbClr val="0A1628"/>
                </a:solidFill>
              </a:rPr>
              <a:t>POLYT5</a:t>
            </a:r>
          </a:p>
        </p:txBody>
      </p:sp>
      <p:sp>
        <p:nvSpPr>
          <p:cNvPr id="9" name="TextBox 8"/>
          <p:cNvSpPr txBox="1"/>
          <p:nvPr/>
        </p:nvSpPr>
        <p:spPr>
          <a:xfrm>
            <a:off x="411479" y="1508760"/>
            <a:ext cx="3886200" cy="1005840"/>
          </a:xfrm>
          <a:prstGeom prst="rect">
            <a:avLst/>
          </a:prstGeom>
          <a:noFill/>
        </p:spPr>
        <p:txBody>
          <a:bodyPr wrap="square">
            <a:spAutoFit/>
          </a:bodyPr>
          <a:lstStyle/>
          <a:p>
            <a:pPr algn="l"/>
            <a:r>
              <a:rPr sz="900" b="0" i="0">
                <a:solidFill>
                  <a:srgbClr val="475569"/>
                </a:solidFill>
              </a:rPr>
              <a:t>Foundation encoder-decoder language model for generative polymer design; accepts property specs and outputs lab-validated novel structures.</a:t>
            </a:r>
          </a:p>
        </p:txBody>
      </p:sp>
      <p:sp>
        <p:nvSpPr>
          <p:cNvPr id="10" name="Rectangle 9"/>
          <p:cNvSpPr/>
          <p:nvPr/>
        </p:nvSpPr>
        <p:spPr>
          <a:xfrm>
            <a:off x="4617720" y="10058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17720" y="10058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1143000"/>
            <a:ext cx="3886200" cy="384048"/>
          </a:xfrm>
          <a:prstGeom prst="rect">
            <a:avLst/>
          </a:prstGeom>
          <a:noFill/>
        </p:spPr>
        <p:txBody>
          <a:bodyPr wrap="square">
            <a:spAutoFit/>
          </a:bodyPr>
          <a:lstStyle/>
          <a:p>
            <a:pPr algn="l"/>
            <a:r>
              <a:rPr sz="1100" b="1" i="0">
                <a:solidFill>
                  <a:srgbClr val="0A1628"/>
                </a:solidFill>
              </a:rPr>
              <a:t>Polymer-Agent (JCIM 2026)</a:t>
            </a:r>
          </a:p>
        </p:txBody>
      </p:sp>
      <p:sp>
        <p:nvSpPr>
          <p:cNvPr id="13" name="TextBox 12"/>
          <p:cNvSpPr txBox="1"/>
          <p:nvPr/>
        </p:nvSpPr>
        <p:spPr>
          <a:xfrm>
            <a:off x="4754880" y="1508760"/>
            <a:ext cx="3886200" cy="1005840"/>
          </a:xfrm>
          <a:prstGeom prst="rect">
            <a:avLst/>
          </a:prstGeom>
          <a:noFill/>
        </p:spPr>
        <p:txBody>
          <a:bodyPr wrap="square">
            <a:spAutoFit/>
          </a:bodyPr>
          <a:lstStyle/>
          <a:p>
            <a:pPr algn="l"/>
            <a:r>
              <a:rPr sz="900" b="0" i="0">
                <a:solidFill>
                  <a:srgbClr val="475569"/>
                </a:solidFill>
              </a:rPr>
              <a:t>LLM-based conversational agent providing property prediction, structure generation, and literature mining for polymer scientists without ML expertise.</a:t>
            </a:r>
          </a:p>
        </p:txBody>
      </p:sp>
      <p:sp>
        <p:nvSpPr>
          <p:cNvPr id="14" name="Rectangle 13"/>
          <p:cNvSpPr/>
          <p:nvPr/>
        </p:nvSpPr>
        <p:spPr>
          <a:xfrm>
            <a:off x="274320" y="28346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28346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79" y="2971800"/>
            <a:ext cx="3886200" cy="384048"/>
          </a:xfrm>
          <a:prstGeom prst="rect">
            <a:avLst/>
          </a:prstGeom>
          <a:noFill/>
        </p:spPr>
        <p:txBody>
          <a:bodyPr wrap="square">
            <a:spAutoFit/>
          </a:bodyPr>
          <a:lstStyle/>
          <a:p>
            <a:pPr algn="l"/>
            <a:r>
              <a:rPr sz="1100" b="1" i="0">
                <a:solidFill>
                  <a:srgbClr val="0A1628"/>
                </a:solidFill>
              </a:rPr>
              <a:t>OPoly26 Dataset</a:t>
            </a:r>
          </a:p>
        </p:txBody>
      </p:sp>
      <p:sp>
        <p:nvSpPr>
          <p:cNvPr id="17" name="TextBox 16"/>
          <p:cNvSpPr txBox="1"/>
          <p:nvPr/>
        </p:nvSpPr>
        <p:spPr>
          <a:xfrm>
            <a:off x="411479" y="3337560"/>
            <a:ext cx="3886200" cy="1005840"/>
          </a:xfrm>
          <a:prstGeom prst="rect">
            <a:avLst/>
          </a:prstGeom>
          <a:noFill/>
        </p:spPr>
        <p:txBody>
          <a:bodyPr wrap="square">
            <a:spAutoFit/>
          </a:bodyPr>
          <a:lstStyle/>
          <a:p>
            <a:pPr algn="l"/>
            <a:r>
              <a:rPr sz="900" b="0" i="0">
                <a:solidFill>
                  <a:srgbClr val="475569"/>
                </a:solidFill>
              </a:rPr>
              <a:t>Open benchmark with 6.35M DFT calculations across polymer systems; the primary community resource for next-gen property prediction ML.</a:t>
            </a:r>
          </a:p>
        </p:txBody>
      </p:sp>
      <p:sp>
        <p:nvSpPr>
          <p:cNvPr id="18" name="Rectangle 17"/>
          <p:cNvSpPr/>
          <p:nvPr/>
        </p:nvSpPr>
        <p:spPr>
          <a:xfrm>
            <a:off x="4617720" y="28346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17720" y="28346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0" y="2971800"/>
            <a:ext cx="3886200" cy="384048"/>
          </a:xfrm>
          <a:prstGeom prst="rect">
            <a:avLst/>
          </a:prstGeom>
          <a:noFill/>
        </p:spPr>
        <p:txBody>
          <a:bodyPr wrap="square">
            <a:spAutoFit/>
          </a:bodyPr>
          <a:lstStyle/>
          <a:p>
            <a:pPr algn="l"/>
            <a:r>
              <a:rPr sz="1100" b="1" i="0">
                <a:solidFill>
                  <a:srgbClr val="0A1628"/>
                </a:solidFill>
              </a:rPr>
              <a:t>polyRETRO</a:t>
            </a:r>
          </a:p>
        </p:txBody>
      </p:sp>
      <p:sp>
        <p:nvSpPr>
          <p:cNvPr id="21" name="TextBox 20"/>
          <p:cNvSpPr txBox="1"/>
          <p:nvPr/>
        </p:nvSpPr>
        <p:spPr>
          <a:xfrm>
            <a:off x="4754880" y="3337560"/>
            <a:ext cx="3886200" cy="1005840"/>
          </a:xfrm>
          <a:prstGeom prst="rect">
            <a:avLst/>
          </a:prstGeom>
          <a:noFill/>
        </p:spPr>
        <p:txBody>
          <a:bodyPr wrap="square">
            <a:spAutoFit/>
          </a:bodyPr>
          <a:lstStyle/>
          <a:p>
            <a:pPr algn="l"/>
            <a:r>
              <a:rPr sz="900" b="0" i="0">
                <a:solidFill>
                  <a:srgbClr val="475569"/>
                </a:solidFill>
              </a:rPr>
              <a:t>LLM approach to retrosynthetic polymer planning: predicts polymerization class and required monomers for a user-specified target polymer.</a:t>
            </a:r>
          </a:p>
        </p:txBody>
      </p:sp>
      <p:sp>
        <p:nvSpPr>
          <p:cNvPr id="22" name="Rectangle 21"/>
          <p:cNvSpPr/>
          <p:nvPr/>
        </p:nvSpPr>
        <p:spPr>
          <a:xfrm>
            <a:off x="274320" y="46634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46634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79" y="4800600"/>
            <a:ext cx="3886200" cy="384048"/>
          </a:xfrm>
          <a:prstGeom prst="rect">
            <a:avLst/>
          </a:prstGeom>
          <a:noFill/>
        </p:spPr>
        <p:txBody>
          <a:bodyPr wrap="square">
            <a:spAutoFit/>
          </a:bodyPr>
          <a:lstStyle/>
          <a:p>
            <a:pPr algn="l"/>
            <a:r>
              <a:rPr sz="1100" b="1" i="0">
                <a:solidFill>
                  <a:srgbClr val="0A1628"/>
                </a:solidFill>
              </a:rPr>
              <a:t>OpenPoly</a:t>
            </a:r>
          </a:p>
        </p:txBody>
      </p:sp>
      <p:sp>
        <p:nvSpPr>
          <p:cNvPr id="25" name="TextBox 24"/>
          <p:cNvSpPr txBox="1"/>
          <p:nvPr/>
        </p:nvSpPr>
        <p:spPr>
          <a:xfrm>
            <a:off x="411479" y="5166359"/>
            <a:ext cx="3886200" cy="1005840"/>
          </a:xfrm>
          <a:prstGeom prst="rect">
            <a:avLst/>
          </a:prstGeom>
          <a:noFill/>
        </p:spPr>
        <p:txBody>
          <a:bodyPr wrap="square">
            <a:spAutoFit/>
          </a:bodyPr>
          <a:lstStyle/>
          <a:p>
            <a:pPr algn="l"/>
            <a:r>
              <a:rPr sz="900" b="0" i="0">
                <a:solidFill>
                  <a:srgbClr val="475569"/>
                </a:solidFill>
              </a:rPr>
              <a:t>Curated polymer database empowering ML benchmarking and multi-property predictions; published in Chinese Journal of Polymer Science, 2025.</a:t>
            </a:r>
          </a:p>
        </p:txBody>
      </p:sp>
      <p:sp>
        <p:nvSpPr>
          <p:cNvPr id="26" name="Rectangle 25"/>
          <p:cNvSpPr/>
          <p:nvPr/>
        </p:nvSpPr>
        <p:spPr>
          <a:xfrm>
            <a:off x="4617720" y="46634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17720" y="46634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0" y="4800600"/>
            <a:ext cx="3886200" cy="384048"/>
          </a:xfrm>
          <a:prstGeom prst="rect">
            <a:avLst/>
          </a:prstGeom>
          <a:noFill/>
        </p:spPr>
        <p:txBody>
          <a:bodyPr wrap="square">
            <a:spAutoFit/>
          </a:bodyPr>
          <a:lstStyle/>
          <a:p>
            <a:pPr algn="l"/>
            <a:r>
              <a:rPr sz="1100" b="1" i="0">
                <a:solidFill>
                  <a:srgbClr val="0A1628"/>
                </a:solidFill>
              </a:rPr>
              <a:t>PolyInfo (NIMS PoLyInfo)</a:t>
            </a:r>
          </a:p>
        </p:txBody>
      </p:sp>
      <p:sp>
        <p:nvSpPr>
          <p:cNvPr id="29" name="TextBox 28"/>
          <p:cNvSpPr txBox="1"/>
          <p:nvPr/>
        </p:nvSpPr>
        <p:spPr>
          <a:xfrm>
            <a:off x="4754880" y="5166359"/>
            <a:ext cx="3886200" cy="1005840"/>
          </a:xfrm>
          <a:prstGeom prst="rect">
            <a:avLst/>
          </a:prstGeom>
          <a:noFill/>
        </p:spPr>
        <p:txBody>
          <a:bodyPr wrap="square">
            <a:spAutoFit/>
          </a:bodyPr>
          <a:lstStyle/>
          <a:p>
            <a:pPr algn="l"/>
            <a:r>
              <a:rPr sz="900" b="0" i="0">
                <a:solidFill>
                  <a:srgbClr val="475569"/>
                </a:solidFill>
              </a:rPr>
              <a:t>Foundational polymer property database with 500K+ experimental data points covering thermal, electrical, and mechanical properties across 100+ property types.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731520"/>
          </a:xfrm>
          <a:prstGeom prst="rect">
            <a:avLst/>
          </a:prstGeom>
          <a:noFill/>
        </p:spPr>
        <p:txBody>
          <a:bodyPr wrap="square">
            <a:spAutoFit/>
          </a:bodyPr>
          <a:lstStyle/>
          <a:p>
            <a:pPr algn="ctr"/>
            <a:r>
              <a:rPr sz="2600" b="1" i="0">
                <a:solidFill>
                  <a:srgbClr val="FFFFFF"/>
                </a:solidFill>
              </a:rPr>
              <a:t>Outlook &amp; Trends</a:t>
            </a:r>
          </a:p>
        </p:txBody>
      </p:sp>
      <p:sp>
        <p:nvSpPr>
          <p:cNvPr id="5" name="TextBox 4"/>
          <p:cNvSpPr txBox="1"/>
          <p:nvPr/>
        </p:nvSpPr>
        <p:spPr>
          <a:xfrm>
            <a:off x="640080" y="1325880"/>
            <a:ext cx="7863840" cy="2011680"/>
          </a:xfrm>
          <a:prstGeom prst="rect">
            <a:avLst/>
          </a:prstGeom>
          <a:noFill/>
        </p:spPr>
        <p:txBody>
          <a:bodyPr wrap="square">
            <a:spAutoFit/>
          </a:bodyPr>
          <a:lstStyle/>
          <a:p>
            <a:pPr algn="ctr"/>
            <a:r>
              <a:rPr sz="1200" b="0" i="0">
                <a:solidFill>
                  <a:srgbClr val="94A3B8"/>
                </a:solidFill>
              </a:rPr>
              <a:t>The trajectory for AI in polymer materials science points unmistakably toward full-stack autonomy within the next 12-18 months. Self-driving laboratories combining generative AI, robotic synthesis, and real-time characterization are expected to compress targeted polymer development from years to weeks, and early prototypes are already operational at leading academic centers. LLM agents will evolve from single-task assistants to orchestrators managing the entire workflow — from literature mining…</a:t>
            </a:r>
          </a:p>
        </p:txBody>
      </p:sp>
      <p:sp>
        <p:nvSpPr>
          <p:cNvPr id="6" name="Rectangle 5"/>
          <p:cNvSpPr/>
          <p:nvPr/>
        </p:nvSpPr>
        <p:spPr>
          <a:xfrm>
            <a:off x="0" y="3474720"/>
            <a:ext cx="9144000" cy="2743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3611880"/>
            <a:ext cx="8229600" cy="411480"/>
          </a:xfrm>
          <a:prstGeom prst="rect">
            <a:avLst/>
          </a:prstGeom>
          <a:noFill/>
        </p:spPr>
        <p:txBody>
          <a:bodyPr wrap="square">
            <a:spAutoFit/>
          </a:bodyPr>
          <a:lstStyle/>
          <a:p>
            <a:pPr algn="l"/>
            <a:r>
              <a:rPr sz="1300" b="1" i="0">
                <a:solidFill>
                  <a:srgbClr val="22D3EE"/>
                </a:solidFill>
              </a:rPr>
              <a:t>Key Trends</a:t>
            </a:r>
          </a:p>
        </p:txBody>
      </p:sp>
      <p:sp>
        <p:nvSpPr>
          <p:cNvPr id="8" name="Rectangle 7"/>
          <p:cNvSpPr/>
          <p:nvPr/>
        </p:nvSpPr>
        <p:spPr>
          <a:xfrm>
            <a:off x="457200" y="4178808"/>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069080"/>
            <a:ext cx="7772400" cy="384048"/>
          </a:xfrm>
          <a:prstGeom prst="rect">
            <a:avLst/>
          </a:prstGeom>
          <a:noFill/>
        </p:spPr>
        <p:txBody>
          <a:bodyPr wrap="square">
            <a:spAutoFit/>
          </a:bodyPr>
          <a:lstStyle/>
          <a:p>
            <a:pPr algn="l"/>
            <a:r>
              <a:rPr sz="1100" b="0" i="0">
                <a:solidFill>
                  <a:srgbClr val="FFFFFF"/>
                </a:solidFill>
              </a:rPr>
              <a:t>Lab-validated generative AI: inverse-design models confirmed by physical synthesis experiments</a:t>
            </a:r>
          </a:p>
        </p:txBody>
      </p:sp>
      <p:sp>
        <p:nvSpPr>
          <p:cNvPr id="10" name="Rectangle 9"/>
          <p:cNvSpPr/>
          <p:nvPr/>
        </p:nvSpPr>
        <p:spPr>
          <a:xfrm>
            <a:off x="457200" y="4581144"/>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471416"/>
            <a:ext cx="7772400" cy="384048"/>
          </a:xfrm>
          <a:prstGeom prst="rect">
            <a:avLst/>
          </a:prstGeom>
          <a:noFill/>
        </p:spPr>
        <p:txBody>
          <a:bodyPr wrap="square">
            <a:spAutoFit/>
          </a:bodyPr>
          <a:lstStyle/>
          <a:p>
            <a:pPr algn="l"/>
            <a:r>
              <a:rPr sz="1100" b="0" i="0">
                <a:solidFill>
                  <a:srgbClr val="FFFFFF"/>
                </a:solidFill>
              </a:rPr>
              <a:t>LLM agents democratizing polymer design — natural language removes the ML expertise barrier</a:t>
            </a:r>
          </a:p>
        </p:txBody>
      </p:sp>
      <p:sp>
        <p:nvSpPr>
          <p:cNvPr id="12" name="Rectangle 11"/>
          <p:cNvSpPr/>
          <p:nvPr/>
        </p:nvSpPr>
        <p:spPr>
          <a:xfrm>
            <a:off x="457200" y="4983480"/>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873752"/>
            <a:ext cx="7772400" cy="384048"/>
          </a:xfrm>
          <a:prstGeom prst="rect">
            <a:avLst/>
          </a:prstGeom>
          <a:noFill/>
        </p:spPr>
        <p:txBody>
          <a:bodyPr wrap="square">
            <a:spAutoFit/>
          </a:bodyPr>
          <a:lstStyle/>
          <a:p>
            <a:pPr algn="l"/>
            <a:r>
              <a:rPr sz="1100" b="0" i="0">
                <a:solidFill>
                  <a:srgbClr val="FFFFFF"/>
                </a:solidFill>
              </a:rPr>
              <a:t>OPoly26 and OpenPoly mega-datasets enabling rigorous, reproducible ML benchmarking</a:t>
            </a:r>
          </a:p>
        </p:txBody>
      </p:sp>
      <p:sp>
        <p:nvSpPr>
          <p:cNvPr id="14" name="Rectangle 13"/>
          <p:cNvSpPr/>
          <p:nvPr/>
        </p:nvSpPr>
        <p:spPr>
          <a:xfrm>
            <a:off x="457200" y="5385816"/>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276088"/>
            <a:ext cx="7772400" cy="384048"/>
          </a:xfrm>
          <a:prstGeom prst="rect">
            <a:avLst/>
          </a:prstGeom>
          <a:noFill/>
        </p:spPr>
        <p:txBody>
          <a:bodyPr wrap="square">
            <a:spAutoFit/>
          </a:bodyPr>
          <a:lstStyle/>
          <a:p>
            <a:pPr algn="l"/>
            <a:r>
              <a:rPr sz="1100" b="0" i="0">
                <a:solidFill>
                  <a:srgbClr val="FFFFFF"/>
                </a:solidFill>
              </a:rPr>
              <a:t>AI closing the recycling loop: spectroscopy + deep learning delivering 60%+ sorting gains</a:t>
            </a:r>
          </a:p>
        </p:txBody>
      </p:sp>
      <p:sp>
        <p:nvSpPr>
          <p:cNvPr id="16" name="Rectangle 15"/>
          <p:cNvSpPr/>
          <p:nvPr/>
        </p:nvSpPr>
        <p:spPr>
          <a:xfrm>
            <a:off x="457200" y="5788152"/>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678424"/>
            <a:ext cx="7772400" cy="384048"/>
          </a:xfrm>
          <a:prstGeom prst="rect">
            <a:avLst/>
          </a:prstGeom>
          <a:noFill/>
        </p:spPr>
        <p:txBody>
          <a:bodyPr wrap="square">
            <a:spAutoFit/>
          </a:bodyPr>
          <a:lstStyle/>
          <a:p>
            <a:pPr algn="l"/>
            <a:r>
              <a:rPr sz="1100" b="0" i="0">
                <a:solidFill>
                  <a:srgbClr val="FFFFFF"/>
                </a:solidFill>
              </a:rPr>
              <a:t>Physics-informed NNs bridging process simulation and ML for 30% manufacturing cycle reductions</a:t>
            </a:r>
          </a:p>
        </p:txBody>
      </p:sp>
      <p:sp>
        <p:nvSpPr>
          <p:cNvPr id="18" name="TextBox 17"/>
          <p:cNvSpPr txBox="1"/>
          <p:nvPr/>
        </p:nvSpPr>
        <p:spPr>
          <a:xfrm>
            <a:off x="0" y="6492240"/>
            <a:ext cx="9144000" cy="274320"/>
          </a:xfrm>
          <a:prstGeom prst="rect">
            <a:avLst/>
          </a:prstGeom>
          <a:noFill/>
        </p:spPr>
        <p:txBody>
          <a:bodyPr wrap="square">
            <a:spAutoFit/>
          </a:bodyPr>
          <a:lstStyle/>
          <a:p>
            <a:pPr algn="ctr"/>
            <a:r>
              <a:rPr sz="800" b="0" i="0">
                <a:solidFill>
                  <a:srgbClr val="64748B"/>
                </a:solidFill>
              </a:rPr>
              <a:t>Generated by Polymer AI Research Agent  ·  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