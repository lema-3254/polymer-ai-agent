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771900"/>
            <a:ext cx="9144000" cy="36576"/>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8229600" cy="1005840"/>
          </a:xfrm>
          <a:prstGeom prst="rect">
            <a:avLst/>
          </a:prstGeom>
          <a:noFill/>
        </p:spPr>
        <p:txBody>
          <a:bodyPr wrap="square">
            <a:spAutoFit/>
          </a:bodyPr>
          <a:lstStyle/>
          <a:p>
            <a:pPr algn="ctr"/>
            <a:r>
              <a:rPr sz="3400" b="1" i="0">
                <a:solidFill>
                  <a:srgbClr val="FFFFFF"/>
                </a:solidFill>
              </a:rPr>
              <a:t>AI Tools for Polymer Materials</a:t>
            </a:r>
          </a:p>
        </p:txBody>
      </p:sp>
      <p:sp>
        <p:nvSpPr>
          <p:cNvPr id="6" name="TextBox 5"/>
          <p:cNvSpPr txBox="1"/>
          <p:nvPr/>
        </p:nvSpPr>
        <p:spPr>
          <a:xfrm>
            <a:off x="457200" y="2377440"/>
            <a:ext cx="8229600" cy="548640"/>
          </a:xfrm>
          <a:prstGeom prst="rect">
            <a:avLst/>
          </a:prstGeom>
          <a:noFill/>
        </p:spPr>
        <p:txBody>
          <a:bodyPr wrap="square">
            <a:spAutoFit/>
          </a:bodyPr>
          <a:lstStyle/>
          <a:p>
            <a:pPr algn="ctr"/>
            <a:r>
              <a:rPr sz="1800" b="0" i="0">
                <a:solidFill>
                  <a:srgbClr val="22D3EE"/>
                </a:solidFill>
              </a:rPr>
              <a:t>Daily Research Digest</a:t>
            </a:r>
          </a:p>
        </p:txBody>
      </p:sp>
      <p:sp>
        <p:nvSpPr>
          <p:cNvPr id="7" name="TextBox 6"/>
          <p:cNvSpPr txBox="1"/>
          <p:nvPr/>
        </p:nvSpPr>
        <p:spPr>
          <a:xfrm>
            <a:off x="457200" y="2926080"/>
            <a:ext cx="8229600" cy="411480"/>
          </a:xfrm>
          <a:prstGeom prst="rect">
            <a:avLst/>
          </a:prstGeom>
          <a:noFill/>
        </p:spPr>
        <p:txBody>
          <a:bodyPr wrap="square">
            <a:spAutoFit/>
          </a:bodyPr>
          <a:lstStyle/>
          <a:p>
            <a:pPr algn="ctr"/>
            <a:r>
              <a:rPr sz="1300" b="0" i="0">
                <a:solidFill>
                  <a:srgbClr val="64748B"/>
                </a:solidFill>
              </a:rPr>
              <a:t>2026-06-15</a:t>
            </a:r>
          </a:p>
        </p:txBody>
      </p:sp>
      <p:sp>
        <p:nvSpPr>
          <p:cNvPr id="8" name="TextBox 7"/>
          <p:cNvSpPr txBox="1"/>
          <p:nvPr/>
        </p:nvSpPr>
        <p:spPr>
          <a:xfrm>
            <a:off x="822960" y="3749039"/>
            <a:ext cx="7498079" cy="822960"/>
          </a:xfrm>
          <a:prstGeom prst="rect">
            <a:avLst/>
          </a:prstGeom>
          <a:noFill/>
        </p:spPr>
        <p:txBody>
          <a:bodyPr wrap="square">
            <a:spAutoFit/>
          </a:bodyPr>
          <a:lstStyle/>
          <a:p>
            <a:pPr algn="ctr"/>
            <a:r>
              <a:rPr sz="1300" b="1" i="1">
                <a:solidFill>
                  <a:srgbClr val="94A3B8"/>
                </a:solidFill>
              </a:rPr>
              <a:t>"Generative AI clears the lab test for dielectric polymers while autonomous multi-agent systems and the OPoly26 mega-dataset reshape the polymer informatics landscape."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Executive Summary</a:t>
            </a:r>
          </a:p>
        </p:txBody>
      </p:sp>
      <p:sp>
        <p:nvSpPr>
          <p:cNvPr id="6" name="TextBox 5"/>
          <p:cNvSpPr txBox="1"/>
          <p:nvPr/>
        </p:nvSpPr>
        <p:spPr>
          <a:xfrm>
            <a:off x="457200" y="1051560"/>
            <a:ext cx="8229600" cy="4206240"/>
          </a:xfrm>
          <a:prstGeom prst="rect">
            <a:avLst/>
          </a:prstGeom>
          <a:noFill/>
        </p:spPr>
        <p:txBody>
          <a:bodyPr wrap="square">
            <a:spAutoFit/>
          </a:bodyPr>
          <a:lstStyle/>
          <a:p>
            <a:pPr algn="l"/>
            <a:r>
              <a:rPr sz="1200" b="0" i="0">
                <a:solidFill>
                  <a:srgbClr val="1E293B"/>
                </a:solidFill>
              </a:rPr>
              <a:t>The week of 15 June 2026 consolidates three major advances that signal polymer AI's transition from bench research to industrial deployment. Georgia Tech's POLYT5 — the first encoder-decoder foundation model for generative polymer design to be physically lab-validated — designed a dielectric polymer that passed experimental specifications on its first attempt, proving that AI inverse design can replace conventional trial-and-error. Simultaneously, an arXiv preprint (2602.00103) demonstrated a fully autonomous multi-agent AI system performing the complete polymer informatics pipeline — property prediction, generative design, and evaluation — across both synthetic and bio-polymers without any…</a:t>
            </a:r>
          </a:p>
        </p:txBody>
      </p:sp>
      <p:sp>
        <p:nvSpPr>
          <p:cNvPr id="7" name="Rectangle 6"/>
          <p:cNvSpPr/>
          <p:nvPr/>
        </p:nvSpPr>
        <p:spPr>
          <a:xfrm>
            <a:off x="365760"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5550408"/>
            <a:ext cx="1874520" cy="347472"/>
          </a:xfrm>
          <a:prstGeom prst="rect">
            <a:avLst/>
          </a:prstGeom>
          <a:noFill/>
        </p:spPr>
        <p:txBody>
          <a:bodyPr wrap="square">
            <a:spAutoFit/>
          </a:bodyPr>
          <a:lstStyle/>
          <a:p>
            <a:pPr algn="l"/>
            <a:r>
              <a:rPr sz="800" b="0" i="0">
                <a:solidFill>
                  <a:srgbClr val="FFFFFF"/>
                </a:solidFill>
              </a:rPr>
              <a:t>AI inverse design has crossed from sim…</a:t>
            </a:r>
          </a:p>
        </p:txBody>
      </p:sp>
      <p:sp>
        <p:nvSpPr>
          <p:cNvPr id="9" name="Rectangle 8"/>
          <p:cNvSpPr/>
          <p:nvPr/>
        </p:nvSpPr>
        <p:spPr>
          <a:xfrm>
            <a:off x="2532888"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24328" y="5550408"/>
            <a:ext cx="1874520" cy="347472"/>
          </a:xfrm>
          <a:prstGeom prst="rect">
            <a:avLst/>
          </a:prstGeom>
          <a:noFill/>
        </p:spPr>
        <p:txBody>
          <a:bodyPr wrap="square">
            <a:spAutoFit/>
          </a:bodyPr>
          <a:lstStyle/>
          <a:p>
            <a:pPr algn="l"/>
            <a:r>
              <a:rPr sz="800" b="0" i="0">
                <a:solidFill>
                  <a:srgbClr val="FFFFFF"/>
                </a:solidFill>
              </a:rPr>
              <a:t>Autonomous multi-agent pipelines are r…</a:t>
            </a:r>
          </a:p>
        </p:txBody>
      </p:sp>
      <p:sp>
        <p:nvSpPr>
          <p:cNvPr id="11" name="Rectangle 10"/>
          <p:cNvSpPr/>
          <p:nvPr/>
        </p:nvSpPr>
        <p:spPr>
          <a:xfrm>
            <a:off x="4700016"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91456" y="5550408"/>
            <a:ext cx="1874520" cy="347472"/>
          </a:xfrm>
          <a:prstGeom prst="rect">
            <a:avLst/>
          </a:prstGeom>
          <a:noFill/>
        </p:spPr>
        <p:txBody>
          <a:bodyPr wrap="square">
            <a:spAutoFit/>
          </a:bodyPr>
          <a:lstStyle/>
          <a:p>
            <a:pPr algn="l"/>
            <a:r>
              <a:rPr sz="800" b="0" i="0">
                <a:solidFill>
                  <a:srgbClr val="FFFFFF"/>
                </a:solidFill>
              </a:rPr>
              <a:t>Open mega-datasets (OPoly26, TROPIC) a…</a:t>
            </a:r>
          </a:p>
        </p:txBody>
      </p:sp>
      <p:sp>
        <p:nvSpPr>
          <p:cNvPr id="13" name="Rectangle 12"/>
          <p:cNvSpPr/>
          <p:nvPr/>
        </p:nvSpPr>
        <p:spPr>
          <a:xfrm>
            <a:off x="6867144"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58584" y="5550408"/>
            <a:ext cx="1874520" cy="347472"/>
          </a:xfrm>
          <a:prstGeom prst="rect">
            <a:avLst/>
          </a:prstGeom>
          <a:noFill/>
        </p:spPr>
        <p:txBody>
          <a:bodyPr wrap="square">
            <a:spAutoFit/>
          </a:bodyPr>
          <a:lstStyle/>
          <a:p>
            <a:pPr algn="l"/>
            <a:r>
              <a:rPr sz="800" b="0" i="0">
                <a:solidFill>
                  <a:srgbClr val="FFFFFF"/>
                </a:solidFill>
              </a:rPr>
              <a:t>Physics-informed neural networks and 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POLYT5: First Lab-Validated Generative AI Model for Polymer Design</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Generative Design  ·  Impact: HIGH</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Georgia Tech researchers developed POLYT5, an encoder-decoder foundation chemical-language model published in npj Artificial Intelligence that generates polymer structures from target property specifications. A POLYT5-designed dielectric polymer…</a:t>
            </a:r>
          </a:p>
        </p:txBody>
      </p:sp>
      <p:sp>
        <p:nvSpPr>
          <p:cNvPr id="11" name="Rectangle 10"/>
          <p:cNvSpPr/>
          <p:nvPr/>
        </p:nvSpPr>
        <p:spPr>
          <a:xfrm>
            <a:off x="274320" y="28346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8346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926080"/>
            <a:ext cx="7315200" cy="384048"/>
          </a:xfrm>
          <a:prstGeom prst="rect">
            <a:avLst/>
          </a:prstGeom>
          <a:noFill/>
        </p:spPr>
        <p:txBody>
          <a:bodyPr wrap="square">
            <a:spAutoFit/>
          </a:bodyPr>
          <a:lstStyle/>
          <a:p>
            <a:pPr algn="l"/>
            <a:r>
              <a:rPr sz="1100" b="1" i="0">
                <a:solidFill>
                  <a:srgbClr val="0A1628"/>
                </a:solidFill>
              </a:rPr>
              <a:t>Autonomous Multi-Agent AI Runs Complete Polymer Informatics Pipeline</a:t>
            </a:r>
          </a:p>
        </p:txBody>
      </p:sp>
      <p:sp>
        <p:nvSpPr>
          <p:cNvPr id="14" name="TextBox 13"/>
          <p:cNvSpPr txBox="1"/>
          <p:nvPr/>
        </p:nvSpPr>
        <p:spPr>
          <a:xfrm>
            <a:off x="502920" y="3273552"/>
            <a:ext cx="7315200" cy="274320"/>
          </a:xfrm>
          <a:prstGeom prst="rect">
            <a:avLst/>
          </a:prstGeom>
          <a:noFill/>
        </p:spPr>
        <p:txBody>
          <a:bodyPr wrap="square">
            <a:spAutoFit/>
          </a:bodyPr>
          <a:lstStyle/>
          <a:p>
            <a:pPr algn="l"/>
            <a:r>
              <a:rPr sz="800" b="0" i="1">
                <a:solidFill>
                  <a:srgbClr val="64748B"/>
                </a:solidFill>
              </a:rPr>
              <a:t>LLMs  ·  Impact: HIGH</a:t>
            </a:r>
          </a:p>
        </p:txBody>
      </p:sp>
      <p:sp>
        <p:nvSpPr>
          <p:cNvPr id="15" name="TextBox 14"/>
          <p:cNvSpPr txBox="1"/>
          <p:nvPr/>
        </p:nvSpPr>
        <p:spPr>
          <a:xfrm>
            <a:off x="502920" y="3529584"/>
            <a:ext cx="7955279" cy="822960"/>
          </a:xfrm>
          <a:prstGeom prst="rect">
            <a:avLst/>
          </a:prstGeom>
          <a:noFill/>
        </p:spPr>
        <p:txBody>
          <a:bodyPr wrap="square">
            <a:spAutoFit/>
          </a:bodyPr>
          <a:lstStyle/>
          <a:p>
            <a:pPr algn="l"/>
            <a:r>
              <a:rPr sz="900" b="0" i="0">
                <a:solidFill>
                  <a:srgbClr val="475569"/>
                </a:solidFill>
              </a:rPr>
              <a:t>An arXiv preprint (2602.00103, Feb 2026) presents a high-throughput autonomous multi-agent system that orchestrates the entire polymer informatics workflow — literature mining, property prediction, generative design, and retrosynthesis — across…</a:t>
            </a:r>
          </a:p>
        </p:txBody>
      </p:sp>
      <p:sp>
        <p:nvSpPr>
          <p:cNvPr id="16" name="Rectangle 15"/>
          <p:cNvSpPr/>
          <p:nvPr/>
        </p:nvSpPr>
        <p:spPr>
          <a:xfrm>
            <a:off x="274320" y="46634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46634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754879"/>
            <a:ext cx="7315200" cy="384048"/>
          </a:xfrm>
          <a:prstGeom prst="rect">
            <a:avLst/>
          </a:prstGeom>
          <a:noFill/>
        </p:spPr>
        <p:txBody>
          <a:bodyPr wrap="square">
            <a:spAutoFit/>
          </a:bodyPr>
          <a:lstStyle/>
          <a:p>
            <a:pPr algn="l"/>
            <a:r>
              <a:rPr sz="1100" b="1" i="0">
                <a:solidFill>
                  <a:srgbClr val="0A1628"/>
                </a:solidFill>
              </a:rPr>
              <a:t>OPoly26: 6.35 Million DFT Calculations Form the Largest Open Polymer Benchmark</a:t>
            </a:r>
          </a:p>
        </p:txBody>
      </p:sp>
      <p:sp>
        <p:nvSpPr>
          <p:cNvPr id="19" name="TextBox 18"/>
          <p:cNvSpPr txBox="1"/>
          <p:nvPr/>
        </p:nvSpPr>
        <p:spPr>
          <a:xfrm>
            <a:off x="502920" y="5102352"/>
            <a:ext cx="7315200" cy="274320"/>
          </a:xfrm>
          <a:prstGeom prst="rect">
            <a:avLst/>
          </a:prstGeom>
          <a:noFill/>
        </p:spPr>
        <p:txBody>
          <a:bodyPr wrap="square">
            <a:spAutoFit/>
          </a:bodyPr>
          <a:lstStyle/>
          <a:p>
            <a:pPr algn="l"/>
            <a:r>
              <a:rPr sz="800" b="0" i="1">
                <a:solidFill>
                  <a:srgbClr val="64748B"/>
                </a:solidFill>
              </a:rPr>
              <a:t>Property Prediction  ·  Impact: HIGH</a:t>
            </a:r>
          </a:p>
        </p:txBody>
      </p:sp>
      <p:sp>
        <p:nvSpPr>
          <p:cNvPr id="20" name="TextBox 19"/>
          <p:cNvSpPr txBox="1"/>
          <p:nvPr/>
        </p:nvSpPr>
        <p:spPr>
          <a:xfrm>
            <a:off x="502920" y="5358383"/>
            <a:ext cx="7955279" cy="822960"/>
          </a:xfrm>
          <a:prstGeom prst="rect">
            <a:avLst/>
          </a:prstGeom>
          <a:noFill/>
        </p:spPr>
        <p:txBody>
          <a:bodyPr wrap="square">
            <a:spAutoFit/>
          </a:bodyPr>
          <a:lstStyle/>
          <a:p>
            <a:pPr algn="l"/>
            <a:r>
              <a:rPr sz="900" b="0" i="0">
                <a:solidFill>
                  <a:srgbClr val="475569"/>
                </a:solidFill>
              </a:rPr>
              <a:t>The Open Polymers 2026 (OPoly26) dataset provides 6.35 million density functional theory calculations on polymer systems totalling over 1.2 billion atoms. It captures monomer composition, chain architecture, degree of polymerisation, and solvation…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 (continued)</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Bayesian Network–XGBoost Framework Handles Missing Data for PP Alloy Prediction</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Property Prediction  ·  Impact: MEDIUM</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Published in Journal of Polymer Science (2026), this two-stage ML framework uses a Bayesian network for guided feature selection followed by XGBoost regression to predict impact strength and flexural modulus of polypropylene alloys. Its key…</a:t>
            </a:r>
          </a:p>
        </p:txBody>
      </p:sp>
      <p:sp>
        <p:nvSpPr>
          <p:cNvPr id="11" name="Rectangle 10"/>
          <p:cNvSpPr/>
          <p:nvPr/>
        </p:nvSpPr>
        <p:spPr>
          <a:xfrm>
            <a:off x="274320" y="28346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8346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926080"/>
            <a:ext cx="7315200" cy="384048"/>
          </a:xfrm>
          <a:prstGeom prst="rect">
            <a:avLst/>
          </a:prstGeom>
          <a:noFill/>
        </p:spPr>
        <p:txBody>
          <a:bodyPr wrap="square">
            <a:spAutoFit/>
          </a:bodyPr>
          <a:lstStyle/>
          <a:p>
            <a:pPr algn="l"/>
            <a:r>
              <a:rPr sz="1100" b="1" i="0">
                <a:solidFill>
                  <a:srgbClr val="0A1628"/>
                </a:solidFill>
              </a:rPr>
              <a:t>Deep Learning Predicts Polymer FTIR Fingerprint Spectra with R² up to 0.87</a:t>
            </a:r>
          </a:p>
        </p:txBody>
      </p:sp>
      <p:sp>
        <p:nvSpPr>
          <p:cNvPr id="14" name="TextBox 13"/>
          <p:cNvSpPr txBox="1"/>
          <p:nvPr/>
        </p:nvSpPr>
        <p:spPr>
          <a:xfrm>
            <a:off x="502920" y="3273552"/>
            <a:ext cx="7315200" cy="274320"/>
          </a:xfrm>
          <a:prstGeom prst="rect">
            <a:avLst/>
          </a:prstGeom>
          <a:noFill/>
        </p:spPr>
        <p:txBody>
          <a:bodyPr wrap="square">
            <a:spAutoFit/>
          </a:bodyPr>
          <a:lstStyle/>
          <a:p>
            <a:pPr algn="l"/>
            <a:r>
              <a:rPr sz="800" b="0" i="1">
                <a:solidFill>
                  <a:srgbClr val="64748B"/>
                </a:solidFill>
              </a:rPr>
              <a:t>Characterization  ·  Impact: MEDIUM</a:t>
            </a:r>
          </a:p>
        </p:txBody>
      </p:sp>
      <p:sp>
        <p:nvSpPr>
          <p:cNvPr id="15" name="TextBox 14"/>
          <p:cNvSpPr txBox="1"/>
          <p:nvPr/>
        </p:nvSpPr>
        <p:spPr>
          <a:xfrm>
            <a:off x="502920" y="3529584"/>
            <a:ext cx="7955279" cy="822960"/>
          </a:xfrm>
          <a:prstGeom prst="rect">
            <a:avLst/>
          </a:prstGeom>
          <a:noFill/>
        </p:spPr>
        <p:txBody>
          <a:bodyPr wrap="square">
            <a:spAutoFit/>
          </a:bodyPr>
          <a:lstStyle/>
          <a:p>
            <a:pPr algn="l"/>
            <a:r>
              <a:rPr sz="900" b="0" i="0">
                <a:solidFill>
                  <a:srgbClr val="475569"/>
                </a:solidFill>
              </a:rPr>
              <a:t>A 2026 MRS Advances study applied deep learning to predict FTIR spectra in the fingerprint region (600-1500 cm⁻¹), achieving R²=0.87 for polystyrene, 0.84 for HDPE, and 0.81 for PET. The approach eliminates reliance on manually curated spectral…</a:t>
            </a:r>
          </a:p>
        </p:txBody>
      </p:sp>
      <p:sp>
        <p:nvSpPr>
          <p:cNvPr id="16" name="Rectangle 15"/>
          <p:cNvSpPr/>
          <p:nvPr/>
        </p:nvSpPr>
        <p:spPr>
          <a:xfrm>
            <a:off x="274320" y="46634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46634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754879"/>
            <a:ext cx="7315200" cy="384048"/>
          </a:xfrm>
          <a:prstGeom prst="rect">
            <a:avLst/>
          </a:prstGeom>
          <a:noFill/>
        </p:spPr>
        <p:txBody>
          <a:bodyPr wrap="square">
            <a:spAutoFit/>
          </a:bodyPr>
          <a:lstStyle/>
          <a:p>
            <a:pPr algn="l"/>
            <a:r>
              <a:rPr sz="1100" b="1" i="0">
                <a:solidFill>
                  <a:srgbClr val="0A1628"/>
                </a:solidFill>
              </a:rPr>
              <a:t>Physics-Informed Neural Networks Reduce Injection Moulding Cycle Times by 30%</a:t>
            </a:r>
          </a:p>
        </p:txBody>
      </p:sp>
      <p:sp>
        <p:nvSpPr>
          <p:cNvPr id="19" name="TextBox 18"/>
          <p:cNvSpPr txBox="1"/>
          <p:nvPr/>
        </p:nvSpPr>
        <p:spPr>
          <a:xfrm>
            <a:off x="502920" y="5102352"/>
            <a:ext cx="7315200" cy="274320"/>
          </a:xfrm>
          <a:prstGeom prst="rect">
            <a:avLst/>
          </a:prstGeom>
          <a:noFill/>
        </p:spPr>
        <p:txBody>
          <a:bodyPr wrap="square">
            <a:spAutoFit/>
          </a:bodyPr>
          <a:lstStyle/>
          <a:p>
            <a:pPr algn="l"/>
            <a:r>
              <a:rPr sz="800" b="0" i="1">
                <a:solidFill>
                  <a:srgbClr val="64748B"/>
                </a:solidFill>
              </a:rPr>
              <a:t>Processing  ·  Impact: HIGH</a:t>
            </a:r>
          </a:p>
        </p:txBody>
      </p:sp>
      <p:sp>
        <p:nvSpPr>
          <p:cNvPr id="20" name="TextBox 19"/>
          <p:cNvSpPr txBox="1"/>
          <p:nvPr/>
        </p:nvSpPr>
        <p:spPr>
          <a:xfrm>
            <a:off x="502920" y="5358383"/>
            <a:ext cx="7955279" cy="822960"/>
          </a:xfrm>
          <a:prstGeom prst="rect">
            <a:avLst/>
          </a:prstGeom>
          <a:noFill/>
        </p:spPr>
        <p:txBody>
          <a:bodyPr wrap="square">
            <a:spAutoFit/>
          </a:bodyPr>
          <a:lstStyle/>
          <a:p>
            <a:pPr algn="l"/>
            <a:r>
              <a:rPr sz="900" b="0" i="0">
                <a:solidFill>
                  <a:srgbClr val="475569"/>
                </a:solidFill>
              </a:rPr>
              <a:t>AI-driven process optimisation systems reviewed in MRS Communications (2026) deploy physics-informed neural networks (PINNs) to predict optimal heating/cooling curves for injection moulding, cutting cycle times up to 30%. ML models trained on plant…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 (continued)</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TROPIC Database Enables AI-Guided Chemical Recycling of ROP Polymers</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Sustainability  ·  Impact: HIGH</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The Thermodynamics of Ring-Opening Polymerisation Informatics Collection (TROPIC), published in RSC Faraday Discussions (2026), provides curated thermodynamic datasets for PLA, PCL, polycarbonates, and related ROP plastics. Structured for direct use…</a:t>
            </a:r>
          </a:p>
        </p:txBody>
      </p:sp>
      <p:sp>
        <p:nvSpPr>
          <p:cNvPr id="11" name="Rectangle 10"/>
          <p:cNvSpPr/>
          <p:nvPr/>
        </p:nvSpPr>
        <p:spPr>
          <a:xfrm>
            <a:off x="274320" y="28346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8346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926080"/>
            <a:ext cx="7315200" cy="384048"/>
          </a:xfrm>
          <a:prstGeom prst="rect">
            <a:avLst/>
          </a:prstGeom>
          <a:noFill/>
        </p:spPr>
        <p:txBody>
          <a:bodyPr wrap="square">
            <a:spAutoFit/>
          </a:bodyPr>
          <a:lstStyle/>
          <a:p>
            <a:pPr algn="l"/>
            <a:r>
              <a:rPr sz="1100" b="1" i="0">
                <a:solidFill>
                  <a:srgbClr val="0A1628"/>
                </a:solidFill>
              </a:rPr>
              <a:t>AI Sorting and Pyrolysis Optimisation Unlock 60% Recycling Efficiency Gains</a:t>
            </a:r>
          </a:p>
        </p:txBody>
      </p:sp>
      <p:sp>
        <p:nvSpPr>
          <p:cNvPr id="14" name="TextBox 13"/>
          <p:cNvSpPr txBox="1"/>
          <p:nvPr/>
        </p:nvSpPr>
        <p:spPr>
          <a:xfrm>
            <a:off x="502920" y="3273552"/>
            <a:ext cx="7315200" cy="274320"/>
          </a:xfrm>
          <a:prstGeom prst="rect">
            <a:avLst/>
          </a:prstGeom>
          <a:noFill/>
        </p:spPr>
        <p:txBody>
          <a:bodyPr wrap="square">
            <a:spAutoFit/>
          </a:bodyPr>
          <a:lstStyle/>
          <a:p>
            <a:pPr algn="l"/>
            <a:r>
              <a:rPr sz="800" b="0" i="1">
                <a:solidFill>
                  <a:srgbClr val="64748B"/>
                </a:solidFill>
              </a:rPr>
              <a:t>Sustainability  ·  Impact: HIGH</a:t>
            </a:r>
          </a:p>
        </p:txBody>
      </p:sp>
      <p:sp>
        <p:nvSpPr>
          <p:cNvPr id="15" name="TextBox 14"/>
          <p:cNvSpPr txBox="1"/>
          <p:nvPr/>
        </p:nvSpPr>
        <p:spPr>
          <a:xfrm>
            <a:off x="502920" y="3529584"/>
            <a:ext cx="7955279" cy="822960"/>
          </a:xfrm>
          <a:prstGeom prst="rect">
            <a:avLst/>
          </a:prstGeom>
          <a:noFill/>
        </p:spPr>
        <p:txBody>
          <a:bodyPr wrap="square">
            <a:spAutoFit/>
          </a:bodyPr>
          <a:lstStyle/>
          <a:p>
            <a:pPr algn="l"/>
            <a:r>
              <a:rPr sz="900" b="0" i="0">
                <a:solidFill>
                  <a:srgbClr val="475569"/>
                </a:solidFill>
              </a:rPr>
              <a:t>Deep learning-powered NIR and hyperspectral sorting systems reported at the AI Circular Economy Conference (Cologne, March 2026) are achieving up to 60% efficiency gains over manual sorting in plastic recycling facilities. A complementary Polymers…</a:t>
            </a:r>
          </a:p>
        </p:txBody>
      </p:sp>
      <p:sp>
        <p:nvSpPr>
          <p:cNvPr id="16" name="Rectangle 15"/>
          <p:cNvSpPr/>
          <p:nvPr/>
        </p:nvSpPr>
        <p:spPr>
          <a:xfrm>
            <a:off x="274320" y="46634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46634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754879"/>
            <a:ext cx="7315200" cy="384048"/>
          </a:xfrm>
          <a:prstGeom prst="rect">
            <a:avLst/>
          </a:prstGeom>
          <a:noFill/>
        </p:spPr>
        <p:txBody>
          <a:bodyPr wrap="square">
            <a:spAutoFit/>
          </a:bodyPr>
          <a:lstStyle/>
          <a:p>
            <a:pPr algn="l"/>
            <a:r>
              <a:rPr sz="1100" b="1" i="0">
                <a:solidFill>
                  <a:srgbClr val="0A1628"/>
                </a:solidFill>
              </a:rPr>
              <a:t>Multimodal LLM for Materials Science Published in Nature Machine Intelligence</a:t>
            </a:r>
          </a:p>
        </p:txBody>
      </p:sp>
      <p:sp>
        <p:nvSpPr>
          <p:cNvPr id="19" name="TextBox 18"/>
          <p:cNvSpPr txBox="1"/>
          <p:nvPr/>
        </p:nvSpPr>
        <p:spPr>
          <a:xfrm>
            <a:off x="502920" y="5102352"/>
            <a:ext cx="7315200" cy="274320"/>
          </a:xfrm>
          <a:prstGeom prst="rect">
            <a:avLst/>
          </a:prstGeom>
          <a:noFill/>
        </p:spPr>
        <p:txBody>
          <a:bodyPr wrap="square">
            <a:spAutoFit/>
          </a:bodyPr>
          <a:lstStyle/>
          <a:p>
            <a:pPr algn="l"/>
            <a:r>
              <a:rPr sz="800" b="0" i="1">
                <a:solidFill>
                  <a:srgbClr val="64748B"/>
                </a:solidFill>
              </a:rPr>
              <a:t>LLMs  ·  Impact: HIGH</a:t>
            </a:r>
          </a:p>
        </p:txBody>
      </p:sp>
      <p:sp>
        <p:nvSpPr>
          <p:cNvPr id="20" name="TextBox 19"/>
          <p:cNvSpPr txBox="1"/>
          <p:nvPr/>
        </p:nvSpPr>
        <p:spPr>
          <a:xfrm>
            <a:off x="502920" y="5358383"/>
            <a:ext cx="7955279" cy="822960"/>
          </a:xfrm>
          <a:prstGeom prst="rect">
            <a:avLst/>
          </a:prstGeom>
          <a:noFill/>
        </p:spPr>
        <p:txBody>
          <a:bodyPr wrap="square">
            <a:spAutoFit/>
          </a:bodyPr>
          <a:lstStyle/>
          <a:p>
            <a:pPr algn="l"/>
            <a:r>
              <a:rPr sz="900" b="0" i="0">
                <a:solidFill>
                  <a:srgbClr val="475569"/>
                </a:solidFill>
              </a:rPr>
              <a:t>A multimodal large language model purpose-built for materials science, published in Nature Machine Intelligence (2026), integrates molecular structure embeddings with natural-language reasoning for property prediction, synthesis planning, and…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 (continued)</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PolyTAO + Group SELFIES Achieves 100% Chemically Valid Polymer Generation</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Generative Design  ·  Impact: MEDIUM</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A ChemRxiv preprint (2026) integrates the Group SELFIES chemical grammar with the PolyTAO generative model, achieving 100% chemically valid polymer structure generation — removing a longstanding validity bottleneck that required expensive post-hoc…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Notable Tools &amp; Resources</a:t>
            </a:r>
          </a:p>
        </p:txBody>
      </p:sp>
      <p:sp>
        <p:nvSpPr>
          <p:cNvPr id="6" name="Rectangle 5"/>
          <p:cNvSpPr/>
          <p:nvPr/>
        </p:nvSpPr>
        <p:spPr>
          <a:xfrm>
            <a:off x="274320" y="10058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79" y="1143000"/>
            <a:ext cx="3886200" cy="384048"/>
          </a:xfrm>
          <a:prstGeom prst="rect">
            <a:avLst/>
          </a:prstGeom>
          <a:noFill/>
        </p:spPr>
        <p:txBody>
          <a:bodyPr wrap="square">
            <a:spAutoFit/>
          </a:bodyPr>
          <a:lstStyle/>
          <a:p>
            <a:pPr algn="l"/>
            <a:r>
              <a:rPr sz="1100" b="1" i="0">
                <a:solidFill>
                  <a:srgbClr val="0A1628"/>
                </a:solidFill>
              </a:rPr>
              <a:t>POLYT5</a:t>
            </a:r>
          </a:p>
        </p:txBody>
      </p:sp>
      <p:sp>
        <p:nvSpPr>
          <p:cNvPr id="9" name="TextBox 8"/>
          <p:cNvSpPr txBox="1"/>
          <p:nvPr/>
        </p:nvSpPr>
        <p:spPr>
          <a:xfrm>
            <a:off x="411479" y="1508760"/>
            <a:ext cx="3886200" cy="1005840"/>
          </a:xfrm>
          <a:prstGeom prst="rect">
            <a:avLst/>
          </a:prstGeom>
          <a:noFill/>
        </p:spPr>
        <p:txBody>
          <a:bodyPr wrap="square">
            <a:spAutoFit/>
          </a:bodyPr>
          <a:lstStyle/>
          <a:p>
            <a:pPr algn="l"/>
            <a:r>
              <a:rPr sz="900" b="0" i="0">
                <a:solidFill>
                  <a:srgbClr val="475569"/>
                </a:solidFill>
              </a:rPr>
              <a:t>Encoder-decoder foundation language model for generative polymer inverse design from target properties; first generatively designed polymer to pass lab…</a:t>
            </a:r>
          </a:p>
        </p:txBody>
      </p:sp>
      <p:sp>
        <p:nvSpPr>
          <p:cNvPr id="10" name="Rectangle 9"/>
          <p:cNvSpPr/>
          <p:nvPr/>
        </p:nvSpPr>
        <p:spPr>
          <a:xfrm>
            <a:off x="4617720" y="10058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17720" y="10058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1143000"/>
            <a:ext cx="3886200" cy="384048"/>
          </a:xfrm>
          <a:prstGeom prst="rect">
            <a:avLst/>
          </a:prstGeom>
          <a:noFill/>
        </p:spPr>
        <p:txBody>
          <a:bodyPr wrap="square">
            <a:spAutoFit/>
          </a:bodyPr>
          <a:lstStyle/>
          <a:p>
            <a:pPr algn="l"/>
            <a:r>
              <a:rPr sz="1100" b="1" i="0">
                <a:solidFill>
                  <a:srgbClr val="0A1628"/>
                </a:solidFill>
              </a:rPr>
              <a:t>OPoly26 Dataset</a:t>
            </a:r>
          </a:p>
        </p:txBody>
      </p:sp>
      <p:sp>
        <p:nvSpPr>
          <p:cNvPr id="13" name="TextBox 12"/>
          <p:cNvSpPr txBox="1"/>
          <p:nvPr/>
        </p:nvSpPr>
        <p:spPr>
          <a:xfrm>
            <a:off x="4754880" y="1508760"/>
            <a:ext cx="3886200" cy="1005840"/>
          </a:xfrm>
          <a:prstGeom prst="rect">
            <a:avLst/>
          </a:prstGeom>
          <a:noFill/>
        </p:spPr>
        <p:txBody>
          <a:bodyPr wrap="square">
            <a:spAutoFit/>
          </a:bodyPr>
          <a:lstStyle/>
          <a:p>
            <a:pPr algn="l"/>
            <a:r>
              <a:rPr sz="900" b="0" i="0">
                <a:solidFill>
                  <a:srgbClr val="475569"/>
                </a:solidFill>
              </a:rPr>
              <a:t>Open benchmark of 6.35 million DFT calculations on polymer systems (&gt;1.2B atoms) for training and evaluating polymer property prediction models at scale.</a:t>
            </a:r>
          </a:p>
        </p:txBody>
      </p:sp>
      <p:sp>
        <p:nvSpPr>
          <p:cNvPr id="14" name="Rectangle 13"/>
          <p:cNvSpPr/>
          <p:nvPr/>
        </p:nvSpPr>
        <p:spPr>
          <a:xfrm>
            <a:off x="274320" y="28346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28346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79" y="2971800"/>
            <a:ext cx="3886200" cy="384048"/>
          </a:xfrm>
          <a:prstGeom prst="rect">
            <a:avLst/>
          </a:prstGeom>
          <a:noFill/>
        </p:spPr>
        <p:txBody>
          <a:bodyPr wrap="square">
            <a:spAutoFit/>
          </a:bodyPr>
          <a:lstStyle/>
          <a:p>
            <a:pPr algn="l"/>
            <a:r>
              <a:rPr sz="1100" b="1" i="0">
                <a:solidFill>
                  <a:srgbClr val="0A1628"/>
                </a:solidFill>
              </a:rPr>
              <a:t>TROPIC Database</a:t>
            </a:r>
          </a:p>
        </p:txBody>
      </p:sp>
      <p:sp>
        <p:nvSpPr>
          <p:cNvPr id="17" name="TextBox 16"/>
          <p:cNvSpPr txBox="1"/>
          <p:nvPr/>
        </p:nvSpPr>
        <p:spPr>
          <a:xfrm>
            <a:off x="411479" y="3337560"/>
            <a:ext cx="3886200" cy="1005840"/>
          </a:xfrm>
          <a:prstGeom prst="rect">
            <a:avLst/>
          </a:prstGeom>
          <a:noFill/>
        </p:spPr>
        <p:txBody>
          <a:bodyPr wrap="square">
            <a:spAutoFit/>
          </a:bodyPr>
          <a:lstStyle/>
          <a:p>
            <a:pPr algn="l"/>
            <a:r>
              <a:rPr sz="900" b="0" i="0">
                <a:solidFill>
                  <a:srgbClr val="475569"/>
                </a:solidFill>
              </a:rPr>
              <a:t>Thermodynamics of Ring-Opening Polymerisation Informatics Collection — curated thermodynamic data enabling ML-guided chemical recycling of PLA, PCL, and…</a:t>
            </a:r>
          </a:p>
        </p:txBody>
      </p:sp>
      <p:sp>
        <p:nvSpPr>
          <p:cNvPr id="18" name="Rectangle 17"/>
          <p:cNvSpPr/>
          <p:nvPr/>
        </p:nvSpPr>
        <p:spPr>
          <a:xfrm>
            <a:off x="4617720" y="28346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17720" y="28346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0" y="2971800"/>
            <a:ext cx="3886200" cy="384048"/>
          </a:xfrm>
          <a:prstGeom prst="rect">
            <a:avLst/>
          </a:prstGeom>
          <a:noFill/>
        </p:spPr>
        <p:txBody>
          <a:bodyPr wrap="square">
            <a:spAutoFit/>
          </a:bodyPr>
          <a:lstStyle/>
          <a:p>
            <a:pPr algn="l"/>
            <a:r>
              <a:rPr sz="1100" b="1" i="0">
                <a:solidFill>
                  <a:srgbClr val="0A1628"/>
                </a:solidFill>
              </a:rPr>
              <a:t>xpectrass</a:t>
            </a:r>
          </a:p>
        </p:txBody>
      </p:sp>
      <p:sp>
        <p:nvSpPr>
          <p:cNvPr id="21" name="TextBox 20"/>
          <p:cNvSpPr txBox="1"/>
          <p:nvPr/>
        </p:nvSpPr>
        <p:spPr>
          <a:xfrm>
            <a:off x="4754880" y="3337560"/>
            <a:ext cx="3886200" cy="1005840"/>
          </a:xfrm>
          <a:prstGeom prst="rect">
            <a:avLst/>
          </a:prstGeom>
          <a:noFill/>
        </p:spPr>
        <p:txBody>
          <a:bodyPr wrap="square">
            <a:spAutoFit/>
          </a:bodyPr>
          <a:lstStyle/>
          <a:p>
            <a:pPr algn="l"/>
            <a:r>
              <a:rPr sz="900" b="0" i="0">
                <a:solidFill>
                  <a:srgbClr val="475569"/>
                </a:solidFill>
              </a:rPr>
              <a:t>Open-source Python framework for FTIR preprocessing evaluation, exploratory spectral analysis, and interpretable ML classification of polymer types.</a:t>
            </a:r>
          </a:p>
        </p:txBody>
      </p:sp>
      <p:sp>
        <p:nvSpPr>
          <p:cNvPr id="22" name="Rectangle 21"/>
          <p:cNvSpPr/>
          <p:nvPr/>
        </p:nvSpPr>
        <p:spPr>
          <a:xfrm>
            <a:off x="274320" y="46634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46634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79" y="4800600"/>
            <a:ext cx="3886200" cy="384048"/>
          </a:xfrm>
          <a:prstGeom prst="rect">
            <a:avLst/>
          </a:prstGeom>
          <a:noFill/>
        </p:spPr>
        <p:txBody>
          <a:bodyPr wrap="square">
            <a:spAutoFit/>
          </a:bodyPr>
          <a:lstStyle/>
          <a:p>
            <a:pPr algn="l"/>
            <a:r>
              <a:rPr sz="1100" b="1" i="0">
                <a:solidFill>
                  <a:srgbClr val="0A1628"/>
                </a:solidFill>
              </a:rPr>
              <a:t>PolyTAO + Group SELFIES</a:t>
            </a:r>
          </a:p>
        </p:txBody>
      </p:sp>
      <p:sp>
        <p:nvSpPr>
          <p:cNvPr id="25" name="TextBox 24"/>
          <p:cNvSpPr txBox="1"/>
          <p:nvPr/>
        </p:nvSpPr>
        <p:spPr>
          <a:xfrm>
            <a:off x="411479" y="5166359"/>
            <a:ext cx="3886200" cy="1005840"/>
          </a:xfrm>
          <a:prstGeom prst="rect">
            <a:avLst/>
          </a:prstGeom>
          <a:noFill/>
        </p:spPr>
        <p:txBody>
          <a:bodyPr wrap="square">
            <a:spAutoFit/>
          </a:bodyPr>
          <a:lstStyle/>
          <a:p>
            <a:pPr algn="l"/>
            <a:r>
              <a:rPr sz="900" b="0" i="0">
                <a:solidFill>
                  <a:srgbClr val="475569"/>
                </a:solidFill>
              </a:rPr>
              <a:t>Generative polymer framework combining Group SELFIES grammar with the PolyTAO model to produce 100% chemically valid polymer structures.</a:t>
            </a:r>
          </a:p>
        </p:txBody>
      </p:sp>
      <p:sp>
        <p:nvSpPr>
          <p:cNvPr id="26" name="Rectangle 25"/>
          <p:cNvSpPr/>
          <p:nvPr/>
        </p:nvSpPr>
        <p:spPr>
          <a:xfrm>
            <a:off x="4617720" y="46634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17720" y="46634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0" y="4800600"/>
            <a:ext cx="3886200" cy="384048"/>
          </a:xfrm>
          <a:prstGeom prst="rect">
            <a:avLst/>
          </a:prstGeom>
          <a:noFill/>
        </p:spPr>
        <p:txBody>
          <a:bodyPr wrap="square">
            <a:spAutoFit/>
          </a:bodyPr>
          <a:lstStyle/>
          <a:p>
            <a:pPr algn="l"/>
            <a:r>
              <a:rPr sz="1100" b="1" i="0">
                <a:solidFill>
                  <a:srgbClr val="0A1628"/>
                </a:solidFill>
              </a:rPr>
              <a:t>Polymer Genome</a:t>
            </a:r>
          </a:p>
        </p:txBody>
      </p:sp>
      <p:sp>
        <p:nvSpPr>
          <p:cNvPr id="29" name="TextBox 28"/>
          <p:cNvSpPr txBox="1"/>
          <p:nvPr/>
        </p:nvSpPr>
        <p:spPr>
          <a:xfrm>
            <a:off x="4754880" y="5166359"/>
            <a:ext cx="3886200" cy="1005840"/>
          </a:xfrm>
          <a:prstGeom prst="rect">
            <a:avLst/>
          </a:prstGeom>
          <a:noFill/>
        </p:spPr>
        <p:txBody>
          <a:bodyPr wrap="square">
            <a:spAutoFit/>
          </a:bodyPr>
          <a:lstStyle/>
          <a:p>
            <a:pPr algn="l"/>
            <a:r>
              <a:rPr sz="900" b="0" i="0">
                <a:solidFill>
                  <a:srgbClr val="475569"/>
                </a:solidFill>
              </a:rPr>
              <a:t>Web-based informatics platform for data-driven polymer property prediction and materials screening across hundreds of target properties.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731520"/>
          </a:xfrm>
          <a:prstGeom prst="rect">
            <a:avLst/>
          </a:prstGeom>
          <a:noFill/>
        </p:spPr>
        <p:txBody>
          <a:bodyPr wrap="square">
            <a:spAutoFit/>
          </a:bodyPr>
          <a:lstStyle/>
          <a:p>
            <a:pPr algn="ctr"/>
            <a:r>
              <a:rPr sz="2600" b="1" i="0">
                <a:solidFill>
                  <a:srgbClr val="FFFFFF"/>
                </a:solidFill>
              </a:rPr>
              <a:t>Outlook &amp; Trends</a:t>
            </a:r>
          </a:p>
        </p:txBody>
      </p:sp>
      <p:sp>
        <p:nvSpPr>
          <p:cNvPr id="5" name="TextBox 4"/>
          <p:cNvSpPr txBox="1"/>
          <p:nvPr/>
        </p:nvSpPr>
        <p:spPr>
          <a:xfrm>
            <a:off x="640080" y="1325880"/>
            <a:ext cx="7863840" cy="2011680"/>
          </a:xfrm>
          <a:prstGeom prst="rect">
            <a:avLst/>
          </a:prstGeom>
          <a:noFill/>
        </p:spPr>
        <p:txBody>
          <a:bodyPr wrap="square">
            <a:spAutoFit/>
          </a:bodyPr>
          <a:lstStyle/>
          <a:p>
            <a:pPr algn="ctr"/>
            <a:r>
              <a:rPr sz="1200" b="0" i="0">
                <a:solidFill>
                  <a:srgbClr val="94A3B8"/>
                </a:solidFill>
              </a:rPr>
              <a:t>The next 6-12 months will likely see the first commercially attributed AI-designed polymer formulation — a direct consequence of POLYT5 and similar foundation models proving experimental validity beyond simulation. Autonomous multi-agent platforms will absorb routine polymer informatics tasks (benchmark screening, formulation optimisation, specification matching), freeing chemists for high-value exploratory synthesis. The OPoly26 and TROPIC databases signal a broader shift toward FAIR-compliant…</a:t>
            </a:r>
          </a:p>
        </p:txBody>
      </p:sp>
      <p:sp>
        <p:nvSpPr>
          <p:cNvPr id="6" name="Rectangle 5"/>
          <p:cNvSpPr/>
          <p:nvPr/>
        </p:nvSpPr>
        <p:spPr>
          <a:xfrm>
            <a:off x="0" y="3474720"/>
            <a:ext cx="9144000" cy="2743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3611880"/>
            <a:ext cx="8229600" cy="411480"/>
          </a:xfrm>
          <a:prstGeom prst="rect">
            <a:avLst/>
          </a:prstGeom>
          <a:noFill/>
        </p:spPr>
        <p:txBody>
          <a:bodyPr wrap="square">
            <a:spAutoFit/>
          </a:bodyPr>
          <a:lstStyle/>
          <a:p>
            <a:pPr algn="l"/>
            <a:r>
              <a:rPr sz="1300" b="1" i="0">
                <a:solidFill>
                  <a:srgbClr val="22D3EE"/>
                </a:solidFill>
              </a:rPr>
              <a:t>Key Trends</a:t>
            </a:r>
          </a:p>
        </p:txBody>
      </p:sp>
      <p:sp>
        <p:nvSpPr>
          <p:cNvPr id="8" name="Rectangle 7"/>
          <p:cNvSpPr/>
          <p:nvPr/>
        </p:nvSpPr>
        <p:spPr>
          <a:xfrm>
            <a:off x="457200" y="4178808"/>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069080"/>
            <a:ext cx="7772400" cy="384048"/>
          </a:xfrm>
          <a:prstGeom prst="rect">
            <a:avLst/>
          </a:prstGeom>
          <a:noFill/>
        </p:spPr>
        <p:txBody>
          <a:bodyPr wrap="square">
            <a:spAutoFit/>
          </a:bodyPr>
          <a:lstStyle/>
          <a:p>
            <a:pPr algn="l"/>
            <a:r>
              <a:rPr sz="1100" b="0" i="0">
                <a:solidFill>
                  <a:srgbClr val="FFFFFF"/>
                </a:solidFill>
              </a:rPr>
              <a:t>AI inverse design has crossed from simulation to lab validation: AI-designed polymers now pass physical tests on first attempt</a:t>
            </a:r>
          </a:p>
        </p:txBody>
      </p:sp>
      <p:sp>
        <p:nvSpPr>
          <p:cNvPr id="10" name="Rectangle 9"/>
          <p:cNvSpPr/>
          <p:nvPr/>
        </p:nvSpPr>
        <p:spPr>
          <a:xfrm>
            <a:off x="457200" y="4581144"/>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471416"/>
            <a:ext cx="7772400" cy="384048"/>
          </a:xfrm>
          <a:prstGeom prst="rect">
            <a:avLst/>
          </a:prstGeom>
          <a:noFill/>
        </p:spPr>
        <p:txBody>
          <a:bodyPr wrap="square">
            <a:spAutoFit/>
          </a:bodyPr>
          <a:lstStyle/>
          <a:p>
            <a:pPr algn="l"/>
            <a:r>
              <a:rPr sz="1100" b="0" i="0">
                <a:solidFill>
                  <a:srgbClr val="FFFFFF"/>
                </a:solidFill>
              </a:rPr>
              <a:t>Autonomous multi-agent pipelines are replacing human-in-the-loop polymer informatics, enabling mass-screening throughput</a:t>
            </a:r>
          </a:p>
        </p:txBody>
      </p:sp>
      <p:sp>
        <p:nvSpPr>
          <p:cNvPr id="12" name="Rectangle 11"/>
          <p:cNvSpPr/>
          <p:nvPr/>
        </p:nvSpPr>
        <p:spPr>
          <a:xfrm>
            <a:off x="457200" y="4983480"/>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873752"/>
            <a:ext cx="7772400" cy="384048"/>
          </a:xfrm>
          <a:prstGeom prst="rect">
            <a:avLst/>
          </a:prstGeom>
          <a:noFill/>
        </p:spPr>
        <p:txBody>
          <a:bodyPr wrap="square">
            <a:spAutoFit/>
          </a:bodyPr>
          <a:lstStyle/>
          <a:p>
            <a:pPr algn="l"/>
            <a:r>
              <a:rPr sz="1100" b="0" i="0">
                <a:solidFill>
                  <a:srgbClr val="FFFFFF"/>
                </a:solidFill>
              </a:rPr>
              <a:t>Open mega-datasets (OPoly26, TROPIC) are democratising ML pre-training and consolidating community benchmarking</a:t>
            </a:r>
          </a:p>
        </p:txBody>
      </p:sp>
      <p:sp>
        <p:nvSpPr>
          <p:cNvPr id="14" name="Rectangle 13"/>
          <p:cNvSpPr/>
          <p:nvPr/>
        </p:nvSpPr>
        <p:spPr>
          <a:xfrm>
            <a:off x="457200" y="5385816"/>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276088"/>
            <a:ext cx="7772400" cy="384048"/>
          </a:xfrm>
          <a:prstGeom prst="rect">
            <a:avLst/>
          </a:prstGeom>
          <a:noFill/>
        </p:spPr>
        <p:txBody>
          <a:bodyPr wrap="square">
            <a:spAutoFit/>
          </a:bodyPr>
          <a:lstStyle/>
          <a:p>
            <a:pPr algn="l"/>
            <a:r>
              <a:rPr sz="1100" b="0" i="0">
                <a:solidFill>
                  <a:srgbClr val="FFFFFF"/>
                </a:solidFill>
              </a:rPr>
              <a:t>Physics-informed neural networks and digital twins are delivering measurable manufacturing efficiency gains (10-30%)</a:t>
            </a:r>
          </a:p>
        </p:txBody>
      </p:sp>
      <p:sp>
        <p:nvSpPr>
          <p:cNvPr id="16" name="Rectangle 15"/>
          <p:cNvSpPr/>
          <p:nvPr/>
        </p:nvSpPr>
        <p:spPr>
          <a:xfrm>
            <a:off x="457200" y="5788152"/>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678424"/>
            <a:ext cx="7772400" cy="384048"/>
          </a:xfrm>
          <a:prstGeom prst="rect">
            <a:avLst/>
          </a:prstGeom>
          <a:noFill/>
        </p:spPr>
        <p:txBody>
          <a:bodyPr wrap="square">
            <a:spAutoFit/>
          </a:bodyPr>
          <a:lstStyle/>
          <a:p>
            <a:pPr algn="l"/>
            <a:r>
              <a:rPr sz="1100" b="0" i="0">
                <a:solidFill>
                  <a:srgbClr val="FFFFFF"/>
                </a:solidFill>
              </a:rPr>
              <a:t>LLMs now outperform specialist ML on small polymer datasets, making AI property prediction accessible to data-poor labs</a:t>
            </a:r>
          </a:p>
        </p:txBody>
      </p:sp>
      <p:sp>
        <p:nvSpPr>
          <p:cNvPr id="18" name="TextBox 17"/>
          <p:cNvSpPr txBox="1"/>
          <p:nvPr/>
        </p:nvSpPr>
        <p:spPr>
          <a:xfrm>
            <a:off x="0" y="6492240"/>
            <a:ext cx="9144000" cy="274320"/>
          </a:xfrm>
          <a:prstGeom prst="rect">
            <a:avLst/>
          </a:prstGeom>
          <a:noFill/>
        </p:spPr>
        <p:txBody>
          <a:bodyPr wrap="square">
            <a:spAutoFit/>
          </a:bodyPr>
          <a:lstStyle/>
          <a:p>
            <a:pPr algn="ctr"/>
            <a:r>
              <a:rPr sz="800" b="0" i="0">
                <a:solidFill>
                  <a:srgbClr val="64748B"/>
                </a:solidFill>
              </a:rPr>
              <a:t>Generated by Polymer AI Research Agent  ·  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